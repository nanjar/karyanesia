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458f429fd9418b" /><Relationship Type="http://schemas.openxmlformats.org/officeDocument/2006/relationships/extended-properties" Target="/docProps/app.xml" Id="R2f9f4226981a434c" /><Relationship Type="http://schemas.openxmlformats.org/officeDocument/2006/relationships/officeDocument" Target="/ppt/presentation.xml" Id="R3c1b4d694b084a19" /></Relationships>
</file>

<file path=ppt/presentation.xml><?xml version="1.0" encoding="utf-8"?>
<p:presentation xmlns:p="http://schemas.openxmlformats.org/presentationml/2006/main">
  <p:sldMasterIdLst>
    <p:sldMasterId xmlns:r="http://schemas.openxmlformats.org/officeDocument/2006/relationships" id="2147483648" r:id="R07943681691e4d2a"/>
  </p:sldMasterIdLst>
  <p:notesMasterIdLst>
    <p:notesMasterId xmlns:r="http://schemas.openxmlformats.org/officeDocument/2006/relationships" r:id="R7ff7aae26e8e4a95"/>
  </p:notesMasterIdLst>
  <p:sldIdLst>
    <p:sldId xmlns:r="http://schemas.openxmlformats.org/officeDocument/2006/relationships" id="256" r:id="Rd154f84122844add"/>
    <p:sldId xmlns:r="http://schemas.openxmlformats.org/officeDocument/2006/relationships" id="257" r:id="Rf95db5d0706d43e6"/>
    <p:sldId xmlns:r="http://schemas.openxmlformats.org/officeDocument/2006/relationships" id="258" r:id="Rdd6067a872094f02"/>
    <p:sldId xmlns:r="http://schemas.openxmlformats.org/officeDocument/2006/relationships" id="259" r:id="R27243a79f2564224"/>
    <p:sldId xmlns:r="http://schemas.openxmlformats.org/officeDocument/2006/relationships" id="260" r:id="R26912952d22d484c"/>
    <p:sldId xmlns:r="http://schemas.openxmlformats.org/officeDocument/2006/relationships" id="261" r:id="R4a1e5da966514b55"/>
    <p:sldId xmlns:r="http://schemas.openxmlformats.org/officeDocument/2006/relationships" id="262" r:id="Rc283642cc19946b8"/>
    <p:sldId xmlns:r="http://schemas.openxmlformats.org/officeDocument/2006/relationships" id="263" r:id="R2a2c9ffbc92a4b6b"/>
    <p:sldId xmlns:r="http://schemas.openxmlformats.org/officeDocument/2006/relationships" id="264" r:id="R81908fc93ec944dd"/>
    <p:sldId xmlns:r="http://schemas.openxmlformats.org/officeDocument/2006/relationships" id="265" r:id="R6e739eeec357401d"/>
    <p:sldId xmlns:r="http://schemas.openxmlformats.org/officeDocument/2006/relationships" id="266" r:id="Rc912e294c2fc458e"/>
    <p:sldId xmlns:r="http://schemas.openxmlformats.org/officeDocument/2006/relationships" id="267" r:id="R9ff35f2acd9948e9"/>
    <p:sldId xmlns:r="http://schemas.openxmlformats.org/officeDocument/2006/relationships" id="268" r:id="R6d7460c51ac34cc7"/>
    <p:sldId xmlns:r="http://schemas.openxmlformats.org/officeDocument/2006/relationships" id="269" r:id="R2aa5bd9e1d8049e9"/>
    <p:sldId xmlns:r="http://schemas.openxmlformats.org/officeDocument/2006/relationships" id="270" r:id="R83656fd9a6034026"/>
    <p:sldId xmlns:r="http://schemas.openxmlformats.org/officeDocument/2006/relationships" id="271" r:id="R03aaf602385e4eec"/>
    <p:sldId xmlns:r="http://schemas.openxmlformats.org/officeDocument/2006/relationships" id="272" r:id="Rae26d9d973614cfb"/>
    <p:sldId xmlns:r="http://schemas.openxmlformats.org/officeDocument/2006/relationships" id="273" r:id="R83391eb374cb4ad2"/>
    <p:sldId xmlns:r="http://schemas.openxmlformats.org/officeDocument/2006/relationships" id="274" r:id="R99bd3e9d9e384268"/>
    <p:sldId xmlns:r="http://schemas.openxmlformats.org/officeDocument/2006/relationships" id="275" r:id="R51b7ba1e1c3d47d9"/>
    <p:sldId xmlns:r="http://schemas.openxmlformats.org/officeDocument/2006/relationships" id="276" r:id="R18bc1d7a228c436a"/>
    <p:sldId xmlns:r="http://schemas.openxmlformats.org/officeDocument/2006/relationships" id="277" r:id="R64261205cd1d43e6"/>
    <p:sldId xmlns:r="http://schemas.openxmlformats.org/officeDocument/2006/relationships" id="278" r:id="Rb66ffa4e76424b4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1fe1d8416a4be7" /><Relationship Type="http://schemas.openxmlformats.org/officeDocument/2006/relationships/slideMaster" Target="/ppt/slideMasters/slideMaster1.xml" Id="R07943681691e4d2a" /><Relationship Type="http://schemas.openxmlformats.org/officeDocument/2006/relationships/notesMaster" Target="/ppt/notesMasters/notesMaster1.xml" Id="R7ff7aae26e8e4a95" /><Relationship Type="http://schemas.openxmlformats.org/officeDocument/2006/relationships/presProps" Target="/ppt/presProps.xml" Id="R7bf673d322514b39" /><Relationship Type="http://schemas.openxmlformats.org/officeDocument/2006/relationships/tableStyles" Target="/ppt/tableStyles.xml" Id="Rc2948b8ef6064691" /><Relationship Type="http://schemas.openxmlformats.org/officeDocument/2006/relationships/slide" Target="/ppt/slides/slide1.xml" Id="Rd154f84122844add" /><Relationship Type="http://schemas.openxmlformats.org/officeDocument/2006/relationships/slide" Target="/ppt/slides/slide2.xml" Id="Rf95db5d0706d43e6" /><Relationship Type="http://schemas.openxmlformats.org/officeDocument/2006/relationships/slide" Target="/ppt/slides/slide3.xml" Id="Rdd6067a872094f02" /><Relationship Type="http://schemas.openxmlformats.org/officeDocument/2006/relationships/slide" Target="/ppt/slides/slide4.xml" Id="R27243a79f2564224" /><Relationship Type="http://schemas.openxmlformats.org/officeDocument/2006/relationships/slide" Target="/ppt/slides/slide5.xml" Id="R26912952d22d484c" /><Relationship Type="http://schemas.openxmlformats.org/officeDocument/2006/relationships/slide" Target="/ppt/slides/slide6.xml" Id="R4a1e5da966514b55" /><Relationship Type="http://schemas.openxmlformats.org/officeDocument/2006/relationships/slide" Target="/ppt/slides/slide7.xml" Id="Rc283642cc19946b8" /><Relationship Type="http://schemas.openxmlformats.org/officeDocument/2006/relationships/slide" Target="/ppt/slides/slide8.xml" Id="R2a2c9ffbc92a4b6b" /><Relationship Type="http://schemas.openxmlformats.org/officeDocument/2006/relationships/slide" Target="/ppt/slides/slide9.xml" Id="R81908fc93ec944dd" /><Relationship Type="http://schemas.openxmlformats.org/officeDocument/2006/relationships/slide" Target="/ppt/slides/slide10.xml" Id="R6e739eeec357401d" /><Relationship Type="http://schemas.openxmlformats.org/officeDocument/2006/relationships/slide" Target="/ppt/slides/slide11.xml" Id="Rc912e294c2fc458e" /><Relationship Type="http://schemas.openxmlformats.org/officeDocument/2006/relationships/slide" Target="/ppt/slides/slide12.xml" Id="R9ff35f2acd9948e9" /><Relationship Type="http://schemas.openxmlformats.org/officeDocument/2006/relationships/slide" Target="/ppt/slides/slide13.xml" Id="R6d7460c51ac34cc7" /><Relationship Type="http://schemas.openxmlformats.org/officeDocument/2006/relationships/slide" Target="/ppt/slides/slide14.xml" Id="R2aa5bd9e1d8049e9" /><Relationship Type="http://schemas.openxmlformats.org/officeDocument/2006/relationships/slide" Target="/ppt/slides/slide15.xml" Id="R83656fd9a6034026" /><Relationship Type="http://schemas.openxmlformats.org/officeDocument/2006/relationships/slide" Target="/ppt/slides/slide16.xml" Id="R03aaf602385e4eec" /><Relationship Type="http://schemas.openxmlformats.org/officeDocument/2006/relationships/slide" Target="/ppt/slides/slide17.xml" Id="Rae26d9d973614cfb" /><Relationship Type="http://schemas.openxmlformats.org/officeDocument/2006/relationships/slide" Target="/ppt/slides/slide18.xml" Id="R83391eb374cb4ad2" /><Relationship Type="http://schemas.openxmlformats.org/officeDocument/2006/relationships/slide" Target="/ppt/slides/slide19.xml" Id="R99bd3e9d9e384268" /><Relationship Type="http://schemas.openxmlformats.org/officeDocument/2006/relationships/slide" Target="/ppt/slides/slide20.xml" Id="R51b7ba1e1c3d47d9" /><Relationship Type="http://schemas.openxmlformats.org/officeDocument/2006/relationships/slide" Target="/ppt/slides/slide21.xml" Id="R18bc1d7a228c436a" /><Relationship Type="http://schemas.openxmlformats.org/officeDocument/2006/relationships/slide" Target="/ppt/slides/slide22.xml" Id="R64261205cd1d43e6" /><Relationship Type="http://schemas.openxmlformats.org/officeDocument/2006/relationships/slide" Target="/ppt/slides/slide23.xml" Id="Rb66ffa4e76424b4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ddc060579446b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79732084df497d" /><Relationship Type="http://schemas.openxmlformats.org/officeDocument/2006/relationships/notesMaster" Target="/ppt/notesMasters/notesMaster1.xml" Id="Rd092cdd716554e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c8140799ea4614" /><Relationship Type="http://schemas.openxmlformats.org/officeDocument/2006/relationships/notesMaster" Target="/ppt/notesMasters/notesMaster1.xml" Id="R14b47ed199914a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adf1753b2a492f" /><Relationship Type="http://schemas.openxmlformats.org/officeDocument/2006/relationships/notesMaster" Target="/ppt/notesMasters/notesMaster1.xml" Id="R0e15f280294348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6ba10b0f594e7b" /><Relationship Type="http://schemas.openxmlformats.org/officeDocument/2006/relationships/notesMaster" Target="/ppt/notesMasters/notesMaster1.xml" Id="R354653fe970a40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5a5abf1e4c4245" /><Relationship Type="http://schemas.openxmlformats.org/officeDocument/2006/relationships/notesMaster" Target="/ppt/notesMasters/notesMaster1.xml" Id="Rc172e5caab0446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7ee300f4fc4252" /><Relationship Type="http://schemas.openxmlformats.org/officeDocument/2006/relationships/notesMaster" Target="/ppt/notesMasters/notesMaster1.xml" Id="Ra57f28d70c904d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c2b13f767b42fe" /><Relationship Type="http://schemas.openxmlformats.org/officeDocument/2006/relationships/notesMaster" Target="/ppt/notesMasters/notesMaster1.xml" Id="Rf2e13cdfea55476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1f39677efa47be" /><Relationship Type="http://schemas.openxmlformats.org/officeDocument/2006/relationships/notesMaster" Target="/ppt/notesMasters/notesMaster1.xml" Id="R53e77a929a2746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47912529d7547fd" /><Relationship Type="http://schemas.openxmlformats.org/officeDocument/2006/relationships/notesMaster" Target="/ppt/notesMasters/notesMaster1.xml" Id="Re1d661428f3d47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095f3f1ecc14ae4" /><Relationship Type="http://schemas.openxmlformats.org/officeDocument/2006/relationships/notesMaster" Target="/ppt/notesMasters/notesMaster1.xml" Id="R302b4685c74246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b7d4dae6724d9a" /><Relationship Type="http://schemas.openxmlformats.org/officeDocument/2006/relationships/notesMaster" Target="/ppt/notesMasters/notesMaster1.xml" Id="R64b1e2ebb2734d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8a9ad873ccd48c6" /><Relationship Type="http://schemas.openxmlformats.org/officeDocument/2006/relationships/notesMaster" Target="/ppt/notesMasters/notesMaster1.xml" Id="Recc064458af647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548ed13140a4d74" /><Relationship Type="http://schemas.openxmlformats.org/officeDocument/2006/relationships/notesMaster" Target="/ppt/notesMasters/notesMaster1.xml" Id="R13e0247bd35144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273fcd4a8d45aa" /><Relationship Type="http://schemas.openxmlformats.org/officeDocument/2006/relationships/notesMaster" Target="/ppt/notesMasters/notesMaster1.xml" Id="R106b26ef4bfa4d9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c5821ca1e69409d" /><Relationship Type="http://schemas.openxmlformats.org/officeDocument/2006/relationships/notesMaster" Target="/ppt/notesMasters/notesMaster1.xml" Id="Rece80f73160848b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420c29ae50489b" /><Relationship Type="http://schemas.openxmlformats.org/officeDocument/2006/relationships/notesMaster" Target="/ppt/notesMasters/notesMaster1.xml" Id="Re94683b77b8c48a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4aea305ac7e4a8e" /><Relationship Type="http://schemas.openxmlformats.org/officeDocument/2006/relationships/notesMaster" Target="/ppt/notesMasters/notesMaster1.xml" Id="R051cfaee6535489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7a177a05292439f" /><Relationship Type="http://schemas.openxmlformats.org/officeDocument/2006/relationships/notesMaster" Target="/ppt/notesMasters/notesMaster1.xml" Id="Rc84418f9a8aa419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9d8fef1d2c444d" /><Relationship Type="http://schemas.openxmlformats.org/officeDocument/2006/relationships/notesMaster" Target="/ppt/notesMasters/notesMaster1.xml" Id="R33c9b87e0112474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fbe4914fb2e4049" /><Relationship Type="http://schemas.openxmlformats.org/officeDocument/2006/relationships/notesMaster" Target="/ppt/notesMasters/notesMaster1.xml" Id="R0ad3bf6fc5b44d3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0c1bbbb2555406d" /><Relationship Type="http://schemas.openxmlformats.org/officeDocument/2006/relationships/notesMaster" Target="/ppt/notesMasters/notesMaster1.xml" Id="Rf596919e2b4a4c4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28d90ce15647a8" /><Relationship Type="http://schemas.openxmlformats.org/officeDocument/2006/relationships/notesMaster" Target="/ppt/notesMasters/notesMaster1.xml" Id="Rdf880768b4d1498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d1db02d5394bd6" /><Relationship Type="http://schemas.openxmlformats.org/officeDocument/2006/relationships/notesMaster" Target="/ppt/notesMasters/notesMaster1.xml" Id="Rf59abaafd4234a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1.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1, 6, 23.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2.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5.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6, 9.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8, 9.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6.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18.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3, 11.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22.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18, 22, 23.  Status produk merupakan draft baseline. Target dan estimasi belum menjadi hasil aktual.</a:t>
            </a:r>
          </a:p>
          <a:p xmlns:a="http://schemas.openxmlformats.org/drawingml/2006/main">
            <a:br/>
            <a:r>
              <a:t>Rencana perluasan adalah usulan urutan komersialisasi, bukan pipeline pelanggan yang sudah ada.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21.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19, 20, 22, 23. Milestone investasi merangkum rencana pengembangan dan validasi PRD. Tidak ada nominal pendanaan atau valuasi dalam PRD.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14.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14.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10, 13.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9 FR-03 sampai FR-06.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9 FR-07, 10, 14, 15.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7, 17.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16.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19.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20.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Sumber: PRD-Karyanesia-v0.0.1.md, 16 Oktober 2026, bagian 23.  Status produk merupakan draft baseline. Target dan estimasi belum menjadi hasil aktual.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e4416fd1b7e470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94d0c26ca574ff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1a06283fbd48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dd60b8a3e5c47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201ce8460f049f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aa7f2845e0411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C06861-1669-487F-BCDB-629ED44FD54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1C6882B-B66F-452E-95A7-11FFDA11491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476D158-9AB4-411A-9692-77BC1ECB7E6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52BEA4-B614-4648-A6FA-EDC3D41EB2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503F25A-9730-4638-A3A5-74F2744BDE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6DA4CA1-E870-45FD-93F4-D84E2FFBE1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DE3EF3F-5368-4D86-959A-7BEF1ECC7D4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A11148F-252E-4BB2-886E-775D8B4AA4D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D1FDB9-9F11-4D9D-AA62-C981F6D245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1FD6F4-6866-4E04-9F1B-5381C0E90A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a82c30ce7c4c46" /><Relationship Type="http://schemas.openxmlformats.org/officeDocument/2006/relationships/slideLayout" Target="/ppt/slideLayouts/slideLayout1.xml" Id="R764fb164b5124136" /><Relationship Type="http://schemas.openxmlformats.org/officeDocument/2006/relationships/slideLayout" Target="/ppt/slideLayouts/slideLayout2.xml" Id="R42987003d35d4820" /><Relationship Type="http://schemas.openxmlformats.org/officeDocument/2006/relationships/slideLayout" Target="/ppt/slideLayouts/slideLayout3.xml" Id="Rd8b06186fc1f46a8" /><Relationship Type="http://schemas.openxmlformats.org/officeDocument/2006/relationships/slideLayout" Target="/ppt/slideLayouts/slideLayout4.xml" Id="R4252798b62a5436c" /><Relationship Type="http://schemas.openxmlformats.org/officeDocument/2006/relationships/slideLayout" Target="/ppt/slideLayouts/slideLayout5.xml" Id="Rcfcf4554d2c942ea" /><Relationship Type="http://schemas.openxmlformats.org/officeDocument/2006/relationships/slideLayout" Target="/ppt/slideLayouts/slideLayout6.xml" Id="R7c9ac8a9e37f4f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4fb164b5124136"/>
    <p:sldLayoutId xmlns:r="http://schemas.openxmlformats.org/officeDocument/2006/relationships" id="2147483650" r:id="R42987003d35d4820"/>
    <p:sldLayoutId xmlns:r="http://schemas.openxmlformats.org/officeDocument/2006/relationships" id="2147483651" r:id="Rd8b06186fc1f46a8"/>
    <p:sldLayoutId xmlns:r="http://schemas.openxmlformats.org/officeDocument/2006/relationships" id="2147483652" r:id="R4252798b62a5436c"/>
    <p:sldLayoutId xmlns:r="http://schemas.openxmlformats.org/officeDocument/2006/relationships" id="2147483653" r:id="Rcfcf4554d2c942ea"/>
    <p:sldLayoutId xmlns:r="http://schemas.openxmlformats.org/officeDocument/2006/relationships" id="2147483654" r:id="R7c9ac8a9e37f4f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99067dfa8b4cad" /><Relationship Type="http://schemas.openxmlformats.org/officeDocument/2006/relationships/notesSlide" Target="/ppt/notesSlides/notesSlide1.xml" Id="R3e429b1430d040c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e95321c3a9483f" /><Relationship Type="http://schemas.openxmlformats.org/officeDocument/2006/relationships/notesSlide" Target="/ppt/notesSlides/notesSlide2.xml" Id="R054a28cbdd9544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69042749a304d3d" /><Relationship Type="http://schemas.openxmlformats.org/officeDocument/2006/relationships/notesSlide" Target="/ppt/notesSlides/notesSlide3.xml" Id="R8be4cab3084e4f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1682a2f701b422a" /><Relationship Type="http://schemas.openxmlformats.org/officeDocument/2006/relationships/notesSlide" Target="/ppt/notesSlides/notesSlide4.xml" Id="R466add112af14f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73664ce79e14a6e" /><Relationship Type="http://schemas.openxmlformats.org/officeDocument/2006/relationships/notesSlide" Target="/ppt/notesSlides/notesSlide5.xml" Id="R13dafe8f17e6480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ddc8759805c4da8" /><Relationship Type="http://schemas.openxmlformats.org/officeDocument/2006/relationships/notesSlide" Target="/ppt/notesSlides/notesSlide6.xml" Id="R982a7349309349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7a3a858102c4b20" /><Relationship Type="http://schemas.openxmlformats.org/officeDocument/2006/relationships/notesSlide" Target="/ppt/notesSlides/notesSlide7.xml" Id="R8937fe70e68a41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a47c3786c9e447c" /><Relationship Type="http://schemas.openxmlformats.org/officeDocument/2006/relationships/notesSlide" Target="/ppt/notesSlides/notesSlide8.xml" Id="Reaf812b966af45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fe015717e9641c6" /><Relationship Type="http://schemas.openxmlformats.org/officeDocument/2006/relationships/notesSlide" Target="/ppt/notesSlides/notesSlide9.xml" Id="Rbca57ba86d9743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4b492c4cffb4f07" /><Relationship Type="http://schemas.openxmlformats.org/officeDocument/2006/relationships/notesSlide" Target="/ppt/notesSlides/notesSlide10.xml" Id="R6e826abf052e4d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ca1c2c49e044ddd" /><Relationship Type="http://schemas.openxmlformats.org/officeDocument/2006/relationships/notesSlide" Target="/ppt/notesSlides/notesSlide11.xml" Id="Rc345f1a6901349b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f1d3ae4e9884f76" /><Relationship Type="http://schemas.openxmlformats.org/officeDocument/2006/relationships/notesSlide" Target="/ppt/notesSlides/notesSlide12.xml" Id="R7ae9fed0275c4de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f1c92990e494ebe" /><Relationship Type="http://schemas.openxmlformats.org/officeDocument/2006/relationships/notesSlide" Target="/ppt/notesSlides/notesSlide13.xml" Id="Ra1932ac4e8a94af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9fc52a5a7144d68" /><Relationship Type="http://schemas.openxmlformats.org/officeDocument/2006/relationships/notesSlide" Target="/ppt/notesSlides/notesSlide14.xml" Id="R4ccba0e9cefe47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e10d1425a544795" /><Relationship Type="http://schemas.openxmlformats.org/officeDocument/2006/relationships/notesSlide" Target="/ppt/notesSlides/notesSlide15.xml" Id="R7cffe2928af5407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cd610846db0462f" /><Relationship Type="http://schemas.openxmlformats.org/officeDocument/2006/relationships/notesSlide" Target="/ppt/notesSlides/notesSlide16.xml" Id="Rd8c375983c564f7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c018c559cff4684" /><Relationship Type="http://schemas.openxmlformats.org/officeDocument/2006/relationships/notesSlide" Target="/ppt/notesSlides/notesSlide17.xml" Id="R760cf70df834423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6be327508794537" /><Relationship Type="http://schemas.openxmlformats.org/officeDocument/2006/relationships/notesSlide" Target="/ppt/notesSlides/notesSlide18.xml" Id="R627d0399fe57472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f4b140e49f9462e" /><Relationship Type="http://schemas.openxmlformats.org/officeDocument/2006/relationships/notesSlide" Target="/ppt/notesSlides/notesSlide19.xml" Id="Racb8d46fae164a3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e455d95ac5e40d2" /><Relationship Type="http://schemas.openxmlformats.org/officeDocument/2006/relationships/notesSlide" Target="/ppt/notesSlides/notesSlide20.xml" Id="Rf5af424e8ed84a5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e95c6d80c174d14" /><Relationship Type="http://schemas.openxmlformats.org/officeDocument/2006/relationships/notesSlide" Target="/ppt/notesSlides/notesSlide21.xml" Id="R4839dc16c095488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77e8fb4b81a14292" /><Relationship Type="http://schemas.openxmlformats.org/officeDocument/2006/relationships/notesSlide" Target="/ppt/notesSlides/notesSlide22.xml" Id="Rf7209ab0161e437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9950c77e1a14a4f" /><Relationship Type="http://schemas.openxmlformats.org/officeDocument/2006/relationships/notesSlide" Target="/ppt/notesSlides/notesSlide23.xml" Id="R43351222e2954c8d" /></Relationships>
</file>

<file path=ppt/slides/slide1.xml><?xml version="1.0" encoding="utf-8"?>
<p:sld xmlns:p="http://schemas.openxmlformats.org/presentationml/2006/main">
  <p:cSld>
    <p:bg>
      <p:bgPr>
        <a:solidFill xmlns:a="http://schemas.openxmlformats.org/drawingml/2006/main">
          <a:srgbClr val="102D3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AB9120-1FA6-4342-87EA-9AA74DACEDD2}"/>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D4E8E0"/>
                </a:solidFill>
                <a:latin typeface="DejaVu Sans"/>
                <a:ea typeface="DejaVu Sans"/>
                <a:cs typeface="DejaVu Sans"/>
              </a:defRPr>
            </a:defPPr>
          </a:lstStyle>
          <a:p xmlns:a="http://schemas.openxmlformats.org/drawingml/2006/main">
            <a:pPr>
              <a:defRPr sz="1125" b="1">
                <a:solidFill>
                  <a:srgbClr val="D4E8E0"/>
                </a:solidFill>
                <a:latin typeface="DejaVu Sans"/>
                <a:ea typeface="DejaVu Sans"/>
                <a:cs typeface="DejaVu Sans"/>
              </a:defRPr>
            </a:pPr>
            <a:r>
              <a:rPr sz="1125" b="1">
                <a:solidFill>
                  <a:srgbClr val="D4E8E0"/>
                </a:solidFill>
                <a:latin typeface="DejaVu Sans"/>
                <a:ea typeface="DejaVu Sans"/>
                <a:cs typeface="DejaVu Sans"/>
              </a:rPr>
              <a:t>INVESTOR &amp; CTO</a:t>
            </a:r>
          </a:p>
        </p:txBody>
      </p:sp>
      <p:sp>
        <p:nvSpPr>
          <p:cNvPr id="2" name="">
            <a:extLst xmlns:a="http://schemas.openxmlformats.org/drawingml/2006/main">
              <a:ext uri="{FF2B5EF4-FFF2-40B4-BE49-F238E27FC236}">
                <a16:creationId xmlns:a16="http://schemas.microsoft.com/office/drawing/2014/main" id="{12061401-CF14-4E29-9B3E-BB3558A0878F}"/>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DejaVu Sans"/>
                <a:ea typeface="DejaVu Sans"/>
                <a:cs typeface="DejaVu Sans"/>
              </a:defRPr>
            </a:defPPr>
          </a:lstStyle>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Karyanesia</a:t>
            </a:r>
          </a:p>
        </p:txBody>
      </p:sp>
      <p:sp>
        <p:nvSpPr>
          <p:cNvPr id="3" name="">
            <a:extLst xmlns:a="http://schemas.openxmlformats.org/drawingml/2006/main">
              <a:ext uri="{FF2B5EF4-FFF2-40B4-BE49-F238E27FC236}">
                <a16:creationId xmlns:a16="http://schemas.microsoft.com/office/drawing/2014/main" id="{A8830F2D-87CB-4779-A031-68448EDC99CB}"/>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4E8E0"/>
                </a:solidFill>
                <a:latin typeface="DejaVu Sans"/>
                <a:ea typeface="DejaVu Sans"/>
                <a:cs typeface="DejaVu Sans"/>
              </a:defRPr>
            </a:defPPr>
          </a:lstStyle>
          <a:p xmlns:a="http://schemas.openxmlformats.org/drawingml/2006/main">
            <a:pPr>
              <a:defRPr sz="975" b="0">
                <a:solidFill>
                  <a:srgbClr val="D4E8E0"/>
                </a:solidFill>
                <a:latin typeface="DejaVu Sans"/>
                <a:ea typeface="DejaVu Sans"/>
                <a:cs typeface="DejaVu Sans"/>
              </a:defRPr>
            </a:pPr>
            <a:r>
              <a:rPr sz="975" b="0">
                <a:solidFill>
                  <a:srgbClr val="D4E8E0"/>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AB8CF148-81D3-4D2D-940E-A32F6C47A546}"/>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4E8E0"/>
                </a:solidFill>
                <a:latin typeface="DejaVu Sans"/>
                <a:ea typeface="DejaVu Sans"/>
                <a:cs typeface="DejaVu Sans"/>
              </a:defRPr>
            </a:defPPr>
          </a:lstStyle>
          <a:p xmlns:a="http://schemas.openxmlformats.org/drawingml/2006/main">
            <a:pPr>
              <a:defRPr sz="975" b="0">
                <a:solidFill>
                  <a:srgbClr val="D4E8E0"/>
                </a:solidFill>
                <a:latin typeface="DejaVu Sans"/>
                <a:ea typeface="DejaVu Sans"/>
                <a:cs typeface="DejaVu Sans"/>
              </a:defRPr>
            </a:pPr>
            <a:r>
              <a:rPr sz="975" b="0">
                <a:solidFill>
                  <a:srgbClr val="D4E8E0"/>
                </a:solidFill>
                <a:latin typeface="DejaVu Sans"/>
                <a:ea typeface="DejaVu Sans"/>
                <a:cs typeface="DejaVu Sans"/>
              </a:rPr>
              <a:t>01</a:t>
            </a:r>
          </a:p>
        </p:txBody>
      </p:sp>
      <p:sp>
        <p:nvSpPr>
          <p:cNvPr id="5" name="">
            <a:extLst xmlns:a="http://schemas.openxmlformats.org/drawingml/2006/main">
              <a:ext uri="{FF2B5EF4-FFF2-40B4-BE49-F238E27FC236}">
                <a16:creationId xmlns:a16="http://schemas.microsoft.com/office/drawing/2014/main" id="{2779FABF-54C5-4CAA-80E7-696D0F6843DF}"/>
              </a:ext>
            </a:extLst>
          </p:cNvPr>
          <p:cNvSpPr>
            <a:spLocks xmlns:a="http://schemas.openxmlformats.org/drawingml/2006/main" noGrp="1"/>
          </p:cNvSpPr>
          <p:nvPr/>
        </p:nvSpPr>
        <p:spPr>
          <a:xfrm xmlns:a="http://schemas.openxmlformats.org/drawingml/2006/main">
            <a:off x="609600" y="2333625"/>
            <a:ext cx="104775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650" b="1">
                <a:solidFill>
                  <a:srgbClr val="FFFFFF"/>
                </a:solidFill>
                <a:latin typeface="DejaVu Sans"/>
                <a:ea typeface="DejaVu Sans"/>
                <a:cs typeface="DejaVu Sans"/>
              </a:defRPr>
            </a:defPPr>
          </a:lstStyle>
          <a:p xmlns:a="http://schemas.openxmlformats.org/drawingml/2006/main">
            <a:pPr>
              <a:defRPr sz="4650" b="1">
                <a:solidFill>
                  <a:srgbClr val="FFFFFF"/>
                </a:solidFill>
                <a:latin typeface="DejaVu Sans"/>
                <a:ea typeface="DejaVu Sans"/>
                <a:cs typeface="DejaVu Sans"/>
              </a:defRPr>
            </a:pPr>
            <a:r>
              <a:rPr sz="4650" b="1">
                <a:solidFill>
                  <a:srgbClr val="FFFFFF"/>
                </a:solidFill>
                <a:latin typeface="DejaVu Sans"/>
                <a:ea typeface="DejaVu Sans"/>
                <a:cs typeface="DejaVu Sans"/>
              </a:rPr>
              <a:t>Siap Kerja.</a:t>
            </a:r>
          </a:p>
          <a:p xmlns:a="http://schemas.openxmlformats.org/drawingml/2006/main">
            <a:pPr>
              <a:defRPr sz="4650" b="1">
                <a:solidFill>
                  <a:srgbClr val="FFFFFF"/>
                </a:solidFill>
                <a:latin typeface="DejaVu Sans"/>
                <a:ea typeface="DejaVu Sans"/>
                <a:cs typeface="DejaVu Sans"/>
              </a:defRPr>
            </a:pPr>
            <a:r>
              <a:rPr sz="4650" b="1">
                <a:solidFill>
                  <a:srgbClr val="FFFFFF"/>
                </a:solidFill>
                <a:latin typeface="DejaVu Sans"/>
                <a:ea typeface="DejaVu Sans"/>
                <a:cs typeface="DejaVu Sans"/>
              </a:rPr>
              <a:t>Terampil Berkarya.</a:t>
            </a:r>
          </a:p>
        </p:txBody>
      </p:sp>
      <p:sp>
        <p:nvSpPr>
          <p:cNvPr id="6" name="">
            <a:extLst xmlns:a="http://schemas.openxmlformats.org/drawingml/2006/main">
              <a:ext uri="{FF2B5EF4-FFF2-40B4-BE49-F238E27FC236}">
                <a16:creationId xmlns:a16="http://schemas.microsoft.com/office/drawing/2014/main" id="{2F24190B-9A7B-4ADC-9232-FEF0AB727F59}"/>
              </a:ext>
            </a:extLst>
          </p:cNvPr>
          <p:cNvSpPr>
            <a:spLocks xmlns:a="http://schemas.openxmlformats.org/drawingml/2006/main" noGrp="1"/>
          </p:cNvSpPr>
          <p:nvPr/>
        </p:nvSpPr>
        <p:spPr>
          <a:xfrm xmlns:a="http://schemas.openxmlformats.org/drawingml/2006/main">
            <a:off x="609600" y="44958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D4E8E0"/>
                </a:solidFill>
                <a:latin typeface="DejaVu Sans"/>
                <a:ea typeface="DejaVu Sans"/>
                <a:cs typeface="DejaVu Sans"/>
              </a:defRPr>
            </a:defPPr>
          </a:lstStyle>
          <a:p xmlns:a="http://schemas.openxmlformats.org/drawingml/2006/main">
            <a:pPr>
              <a:defRPr sz="2250" b="0">
                <a:solidFill>
                  <a:srgbClr val="D4E8E0"/>
                </a:solidFill>
                <a:latin typeface="DejaVu Sans"/>
                <a:ea typeface="DejaVu Sans"/>
                <a:cs typeface="DejaVu Sans"/>
              </a:defRPr>
            </a:pPr>
            <a:r>
              <a:rPr sz="2250" b="0">
                <a:solidFill>
                  <a:srgbClr val="D4E8E0"/>
                </a:solidFill>
                <a:latin typeface="DejaVu Sans"/>
                <a:ea typeface="DejaVu Sans"/>
                <a:cs typeface="DejaVu Sans"/>
              </a:rPr>
              <a:t>Platform pelatihan dan SOP untuk tenaga kerja operasional</a:t>
            </a:r>
          </a:p>
        </p:txBody>
      </p:sp>
      <p:sp>
        <p:nvSpPr>
          <p:cNvPr id="7" name="">
            <a:extLst xmlns:a="http://schemas.openxmlformats.org/drawingml/2006/main">
              <a:ext uri="{FF2B5EF4-FFF2-40B4-BE49-F238E27FC236}">
                <a16:creationId xmlns:a16="http://schemas.microsoft.com/office/drawing/2014/main" id="{42C9443C-E426-4FFD-8DB8-92F05A4C3CA2}"/>
              </a:ext>
            </a:extLst>
          </p:cNvPr>
          <p:cNvSpPr>
            <a:spLocks xmlns:a="http://schemas.openxmlformats.org/drawingml/2006/main" noGrp="1"/>
          </p:cNvSpPr>
          <p:nvPr/>
        </p:nvSpPr>
        <p:spPr>
          <a:xfrm xmlns:a="http://schemas.openxmlformats.org/drawingml/2006/main">
            <a:off x="609600" y="56673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D4E8E0"/>
                </a:solidFill>
                <a:latin typeface="DejaVu Sans"/>
                <a:ea typeface="DejaVu Sans"/>
                <a:cs typeface="DejaVu Sans"/>
              </a:defRPr>
            </a:defPPr>
          </a:lstStyle>
          <a:p xmlns:a="http://schemas.openxmlformats.org/drawingml/2006/main">
            <a:pPr>
              <a:defRPr sz="1575" b="0">
                <a:solidFill>
                  <a:srgbClr val="D4E8E0"/>
                </a:solidFill>
                <a:latin typeface="DejaVu Sans"/>
                <a:ea typeface="DejaVu Sans"/>
                <a:cs typeface="DejaVu Sans"/>
              </a:defRPr>
            </a:pPr>
            <a:r>
              <a:rPr sz="1575" b="0">
                <a:solidFill>
                  <a:srgbClr val="D4E8E0"/>
                </a:solidFill>
                <a:latin typeface="DejaVu Sans"/>
                <a:ea typeface="DejaVu Sans"/>
                <a:cs typeface="DejaVu Sans"/>
              </a:rPr>
              <a:t>Nanjar Budiman  /  16 Oktober 2026</a:t>
            </a:r>
          </a:p>
        </p:txBody>
      </p:sp>
    </p:spTree>
    <p:extLst>
      <p:ext uri="{BB962C8B-B14F-4D97-AF65-F5344CB8AC3E}">
        <p14:creationId xmlns:p14="http://schemas.microsoft.com/office/powerpoint/2010/main" val="362487312"/>
      </p:ext>
    </p:extLst>
  </p:cSld>
</p:sld>
</file>

<file path=ppt/slides/slide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0307E45-9F40-432A-BF7E-30711E74D0E8}"/>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INVESTOR</a:t>
            </a:r>
          </a:p>
        </p:txBody>
      </p:sp>
      <p:sp>
        <p:nvSpPr>
          <p:cNvPr id="2" name="">
            <a:extLst xmlns:a="http://schemas.openxmlformats.org/drawingml/2006/main">
              <a:ext uri="{FF2B5EF4-FFF2-40B4-BE49-F238E27FC236}">
                <a16:creationId xmlns:a16="http://schemas.microsoft.com/office/drawing/2014/main" id="{8D247684-5154-40E0-B5FB-312BCA9FC4FB}"/>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Kesiapan kerja yang dapat ditelusuri</a:t>
            </a:r>
          </a:p>
        </p:txBody>
      </p:sp>
      <p:sp>
        <p:nvSpPr>
          <p:cNvPr id="3" name="">
            <a:extLst xmlns:a="http://schemas.openxmlformats.org/drawingml/2006/main">
              <a:ext uri="{FF2B5EF4-FFF2-40B4-BE49-F238E27FC236}">
                <a16:creationId xmlns:a16="http://schemas.microsoft.com/office/drawing/2014/main" id="{82869314-891A-4F57-AE6F-FBBBE7E20526}"/>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4649E81F-E282-40AB-9B1F-FECE59FD8640}"/>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02</a:t>
            </a:r>
          </a:p>
        </p:txBody>
      </p:sp>
      <p:sp>
        <p:nvSpPr>
          <p:cNvPr id="5" name="">
            <a:extLst xmlns:a="http://schemas.openxmlformats.org/drawingml/2006/main">
              <a:ext uri="{FF2B5EF4-FFF2-40B4-BE49-F238E27FC236}">
                <a16:creationId xmlns:a16="http://schemas.microsoft.com/office/drawing/2014/main" id="{3D4ED2D9-9394-4A91-A446-9EA33FAEB376}"/>
              </a:ext>
            </a:extLst>
          </p:cNvPr>
          <p:cNvSpPr>
            <a:spLocks xmlns:a="http://schemas.openxmlformats.org/drawingml/2006/main" noGrp="1"/>
          </p:cNvSpPr>
          <p:nvPr/>
        </p:nvSpPr>
        <p:spPr>
          <a:xfrm xmlns:a="http://schemas.openxmlformats.org/drawingml/2006/main">
            <a:off x="609600" y="2133600"/>
            <a:ext cx="1066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150" b="1">
                <a:solidFill>
                  <a:srgbClr val="142E33"/>
                </a:solidFill>
                <a:latin typeface="DejaVu Sans"/>
                <a:ea typeface="DejaVu Sans"/>
                <a:cs typeface="DejaVu Sans"/>
              </a:defRPr>
            </a:defPPr>
          </a:lstStyle>
          <a:p xmlns:a="http://schemas.openxmlformats.org/drawingml/2006/main">
            <a:pPr>
              <a:defRPr sz="3150" b="1">
                <a:solidFill>
                  <a:srgbClr val="142E33"/>
                </a:solidFill>
                <a:latin typeface="DejaVu Sans"/>
                <a:ea typeface="DejaVu Sans"/>
                <a:cs typeface="DejaVu Sans"/>
              </a:defRPr>
            </a:pPr>
            <a:r>
              <a:rPr sz="3150" b="1">
                <a:solidFill>
                  <a:srgbClr val="142E33"/>
                </a:solidFill>
                <a:latin typeface="DejaVu Sans"/>
                <a:ea typeface="DejaVu Sans"/>
                <a:cs typeface="DejaVu Sans"/>
              </a:rPr>
              <a:t>Pelatihan singkat, praktik terverifikasi,</a:t>
            </a:r>
          </a:p>
          <a:p xmlns:a="http://schemas.openxmlformats.org/drawingml/2006/main">
            <a:pPr>
              <a:defRPr sz="3150" b="1">
                <a:solidFill>
                  <a:srgbClr val="142E33"/>
                </a:solidFill>
                <a:latin typeface="DejaVu Sans"/>
                <a:ea typeface="DejaVu Sans"/>
                <a:cs typeface="DejaVu Sans"/>
              </a:defRPr>
            </a:pPr>
            <a:r>
              <a:rPr sz="3150" b="1">
                <a:solidFill>
                  <a:srgbClr val="142E33"/>
                </a:solidFill>
                <a:latin typeface="DejaVu Sans"/>
                <a:ea typeface="DejaVu Sans"/>
                <a:cs typeface="DejaVu Sans"/>
              </a:rPr>
              <a:t>dan SOP harian dalam satu alur.</a:t>
            </a:r>
          </a:p>
        </p:txBody>
      </p:sp>
      <p:sp>
        <p:nvSpPr>
          <p:cNvPr id="6" name="">
            <a:extLst xmlns:a="http://schemas.openxmlformats.org/drawingml/2006/main">
              <a:ext uri="{FF2B5EF4-FFF2-40B4-BE49-F238E27FC236}">
                <a16:creationId xmlns:a16="http://schemas.microsoft.com/office/drawing/2014/main" id="{7E7E6DF3-9A25-46ED-8AF8-DDC45BBA6732}"/>
              </a:ext>
            </a:extLst>
          </p:cNvPr>
          <p:cNvSpPr>
            <a:spLocks xmlns:a="http://schemas.openxmlformats.org/drawingml/2006/main" noGrp="1"/>
          </p:cNvSpPr>
          <p:nvPr/>
        </p:nvSpPr>
        <p:spPr>
          <a:xfrm xmlns:a="http://schemas.openxmlformats.org/drawingml/2006/main">
            <a:off x="609600" y="4048125"/>
            <a:ext cx="1057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52686A"/>
                </a:solidFill>
                <a:latin typeface="DejaVu Sans"/>
                <a:ea typeface="DejaVu Sans"/>
                <a:cs typeface="DejaVu Sans"/>
              </a:defRPr>
            </a:defPPr>
          </a:lstStyle>
          <a:p xmlns:a="http://schemas.openxmlformats.org/drawingml/2006/main">
            <a:pPr>
              <a:defRPr sz="2250" b="0">
                <a:solidFill>
                  <a:srgbClr val="52686A"/>
                </a:solidFill>
                <a:latin typeface="DejaVu Sans"/>
                <a:ea typeface="DejaVu Sans"/>
                <a:cs typeface="DejaVu Sans"/>
              </a:defRPr>
            </a:pPr>
            <a:r>
              <a:rPr sz="2250" b="0">
                <a:solidFill>
                  <a:srgbClr val="52686A"/>
                </a:solidFill>
                <a:latin typeface="DejaVu Sans"/>
                <a:ea typeface="DejaVu Sans"/>
                <a:cs typeface="DejaVu Sans"/>
              </a:rPr>
              <a:t>MVP dimulai pada ritel dengan banyak cabang.</a:t>
            </a:r>
          </a:p>
          <a:p xmlns:a="http://schemas.openxmlformats.org/drawingml/2006/main">
            <a:pPr>
              <a:defRPr sz="2250" b="0">
                <a:solidFill>
                  <a:srgbClr val="52686A"/>
                </a:solidFill>
                <a:latin typeface="DejaVu Sans"/>
                <a:ea typeface="DejaVu Sans"/>
                <a:cs typeface="DejaVu Sans"/>
              </a:defRPr>
            </a:pPr>
            <a:r>
              <a:rPr sz="2250" b="0">
                <a:solidFill>
                  <a:srgbClr val="52686A"/>
                </a:solidFill>
                <a:latin typeface="DejaVu Sans"/>
                <a:ea typeface="DejaVu Sans"/>
                <a:cs typeface="DejaVu Sans"/>
              </a:rPr>
              <a:t>HR dan supervisor melihat progres serta kebutuhan pendampingan.</a:t>
            </a:r>
          </a:p>
        </p:txBody>
      </p:sp>
      <p:sp>
        <p:nvSpPr>
          <p:cNvPr id="7" name="">
            <a:extLst xmlns:a="http://schemas.openxmlformats.org/drawingml/2006/main">
              <a:ext uri="{FF2B5EF4-FFF2-40B4-BE49-F238E27FC236}">
                <a16:creationId xmlns:a16="http://schemas.microsoft.com/office/drawing/2014/main" id="{BA112B9B-726E-4141-BBEB-AD466A66752C}"/>
              </a:ext>
            </a:extLst>
          </p:cNvPr>
          <p:cNvSpPr>
            <a:spLocks xmlns:a="http://schemas.openxmlformats.org/drawingml/2006/main" noGrp="1"/>
          </p:cNvSpPr>
          <p:nvPr/>
        </p:nvSpPr>
        <p:spPr>
          <a:xfrm xmlns:a="http://schemas.openxmlformats.org/drawingml/2006/main">
            <a:off x="609600" y="5600700"/>
            <a:ext cx="1076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75" b="0">
                <a:solidFill>
                  <a:srgbClr val="007F73"/>
                </a:solidFill>
                <a:latin typeface="DejaVu Sans"/>
                <a:ea typeface="DejaVu Sans"/>
                <a:cs typeface="DejaVu Sans"/>
              </a:defRPr>
            </a:defPPr>
          </a:lstStyle>
          <a:p xmlns:a="http://schemas.openxmlformats.org/drawingml/2006/main">
            <a:pPr>
              <a:defRPr sz="1575" b="0">
                <a:solidFill>
                  <a:srgbClr val="007F73"/>
                </a:solidFill>
                <a:latin typeface="DejaVu Sans"/>
                <a:ea typeface="DejaVu Sans"/>
                <a:cs typeface="DejaVu Sans"/>
              </a:defRPr>
            </a:pPr>
            <a:r>
              <a:rPr sz="1575" b="0">
                <a:solidFill>
                  <a:srgbClr val="007F73"/>
                </a:solidFill>
                <a:latin typeface="DejaVu Sans"/>
                <a:ea typeface="DejaVu Sans"/>
                <a:cs typeface="DejaVu Sans"/>
              </a:rPr>
              <a:t>Tahap saat ini: PRD awal. Pilot, harga, dan hasil bisnis belum tervalidasi.</a:t>
            </a:r>
          </a:p>
        </p:txBody>
      </p:sp>
    </p:spTree>
    <p:extLst>
      <p:ext uri="{BB962C8B-B14F-4D97-AF65-F5344CB8AC3E}">
        <p14:creationId xmlns:p14="http://schemas.microsoft.com/office/powerpoint/2010/main" val="2025700148"/>
      </p:ext>
    </p:extLst>
  </p:cSld>
</p:sld>
</file>

<file path=ppt/slides/slide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C979B88-A456-48F0-9B23-16E9779499F4}"/>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INVESTOR</a:t>
            </a:r>
          </a:p>
        </p:txBody>
      </p:sp>
      <p:sp>
        <p:nvSpPr>
          <p:cNvPr id="2" name="">
            <a:extLst xmlns:a="http://schemas.openxmlformats.org/drawingml/2006/main">
              <a:ext uri="{FF2B5EF4-FFF2-40B4-BE49-F238E27FC236}">
                <a16:creationId xmlns:a16="http://schemas.microsoft.com/office/drawing/2014/main" id="{871949B3-6ECE-4718-B55E-B7C3FE751BF8}"/>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Masalah di tingkat cabang</a:t>
            </a:r>
          </a:p>
        </p:txBody>
      </p:sp>
      <p:sp>
        <p:nvSpPr>
          <p:cNvPr id="3" name="">
            <a:extLst xmlns:a="http://schemas.openxmlformats.org/drawingml/2006/main">
              <a:ext uri="{FF2B5EF4-FFF2-40B4-BE49-F238E27FC236}">
                <a16:creationId xmlns:a16="http://schemas.microsoft.com/office/drawing/2014/main" id="{F58C1288-6C9C-4F84-8300-9614B3FE077E}"/>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6AFACB81-FFF2-46B9-BCC5-00B1F30E6FEC}"/>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03</a:t>
            </a:r>
          </a:p>
        </p:txBody>
      </p:sp>
      <p:sp>
        <p:nvSpPr>
          <p:cNvPr id="5" name="">
            <a:extLst xmlns:a="http://schemas.openxmlformats.org/drawingml/2006/main">
              <a:ext uri="{FF2B5EF4-FFF2-40B4-BE49-F238E27FC236}">
                <a16:creationId xmlns:a16="http://schemas.microsoft.com/office/drawing/2014/main" id="{817E4CE3-A4E8-4B81-A10C-9199C71E737A}"/>
              </a:ext>
            </a:extLst>
          </p:cNvPr>
          <p:cNvSpPr>
            <a:spLocks xmlns:a="http://schemas.openxmlformats.org/drawingml/2006/main" noGrp="1"/>
          </p:cNvSpPr>
          <p:nvPr/>
        </p:nvSpPr>
        <p:spPr>
          <a:xfrm xmlns:a="http://schemas.openxmlformats.org/drawingml/2006/main">
            <a:off x="609600" y="21431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39A6ABCC-DD75-4FF2-85B0-173E05BB0828}"/>
              </a:ext>
            </a:extLst>
          </p:cNvPr>
          <p:cNvSpPr>
            <a:spLocks xmlns:a="http://schemas.openxmlformats.org/drawingml/2006/main" noGrp="1"/>
          </p:cNvSpPr>
          <p:nvPr/>
        </p:nvSpPr>
        <p:spPr>
          <a:xfrm xmlns:a="http://schemas.openxmlformats.org/drawingml/2006/main">
            <a:off x="1428750" y="21431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Pelatihan berulang menyita waktu supervisor</a:t>
            </a:r>
          </a:p>
        </p:txBody>
      </p:sp>
      <p:sp>
        <p:nvSpPr>
          <p:cNvPr id="7" name="">
            <a:extLst xmlns:a="http://schemas.openxmlformats.org/drawingml/2006/main">
              <a:ext uri="{FF2B5EF4-FFF2-40B4-BE49-F238E27FC236}">
                <a16:creationId xmlns:a16="http://schemas.microsoft.com/office/drawing/2014/main" id="{95552845-8F10-4B43-BD59-8741C2B50846}"/>
              </a:ext>
            </a:extLst>
          </p:cNvPr>
          <p:cNvSpPr>
            <a:spLocks xmlns:a="http://schemas.openxmlformats.org/drawingml/2006/main" noGrp="1"/>
          </p:cNvSpPr>
          <p:nvPr/>
        </p:nvSpPr>
        <p:spPr>
          <a:xfrm xmlns:a="http://schemas.openxmlformats.org/drawingml/2006/main">
            <a:off x="1428750" y="26003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Penjelasan dan standar kerja berbeda antar lokasi.</a:t>
            </a:r>
          </a:p>
        </p:txBody>
      </p:sp>
      <p:sp>
        <p:nvSpPr>
          <p:cNvPr id="8" name="">
            <a:extLst xmlns:a="http://schemas.openxmlformats.org/drawingml/2006/main">
              <a:ext uri="{FF2B5EF4-FFF2-40B4-BE49-F238E27FC236}">
                <a16:creationId xmlns:a16="http://schemas.microsoft.com/office/drawing/2014/main" id="{F40BF417-7090-4C1D-B841-75D61CA47828}"/>
              </a:ext>
            </a:extLst>
          </p:cNvPr>
          <p:cNvSpPr>
            <a:spLocks xmlns:a="http://schemas.openxmlformats.org/drawingml/2006/main" noGrp="1"/>
          </p:cNvSpPr>
          <p:nvPr/>
        </p:nvSpPr>
        <p:spPr>
          <a:xfrm xmlns:a="http://schemas.openxmlformats.org/drawingml/2006/main">
            <a:off x="60960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73E2A36F-9485-41C2-B68A-22DD68F332B6}"/>
              </a:ext>
            </a:extLst>
          </p:cNvPr>
          <p:cNvSpPr>
            <a:spLocks xmlns:a="http://schemas.openxmlformats.org/drawingml/2006/main" noGrp="1"/>
          </p:cNvSpPr>
          <p:nvPr/>
        </p:nvSpPr>
        <p:spPr>
          <a:xfrm xmlns:a="http://schemas.openxmlformats.org/drawingml/2006/main">
            <a:off x="1428750" y="34004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Penyelesaian teori belum membuktikan keterampilan</a:t>
            </a:r>
          </a:p>
        </p:txBody>
      </p:sp>
      <p:sp>
        <p:nvSpPr>
          <p:cNvPr id="10" name="">
            <a:extLst xmlns:a="http://schemas.openxmlformats.org/drawingml/2006/main">
              <a:ext uri="{FF2B5EF4-FFF2-40B4-BE49-F238E27FC236}">
                <a16:creationId xmlns:a16="http://schemas.microsoft.com/office/drawing/2014/main" id="{9337BABB-20BD-425C-A55E-6C3AC52DA94D}"/>
              </a:ext>
            </a:extLst>
          </p:cNvPr>
          <p:cNvSpPr>
            <a:spLocks xmlns:a="http://schemas.openxmlformats.org/drawingml/2006/main" noGrp="1"/>
          </p:cNvSpPr>
          <p:nvPr/>
        </p:nvSpPr>
        <p:spPr>
          <a:xfrm xmlns:a="http://schemas.openxmlformats.org/drawingml/2006/main">
            <a:off x="1428750" y="38576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Perusahaan membutuhkan observasi praktik yang tercatat.</a:t>
            </a:r>
          </a:p>
        </p:txBody>
      </p:sp>
      <p:sp>
        <p:nvSpPr>
          <p:cNvPr id="11" name="">
            <a:extLst xmlns:a="http://schemas.openxmlformats.org/drawingml/2006/main">
              <a:ext uri="{FF2B5EF4-FFF2-40B4-BE49-F238E27FC236}">
                <a16:creationId xmlns:a16="http://schemas.microsoft.com/office/drawing/2014/main" id="{24FAB7A9-7169-4637-BF63-27BE78A1901F}"/>
              </a:ext>
            </a:extLst>
          </p:cNvPr>
          <p:cNvSpPr>
            <a:spLocks xmlns:a="http://schemas.openxmlformats.org/drawingml/2006/main" noGrp="1"/>
          </p:cNvSpPr>
          <p:nvPr/>
        </p:nvSpPr>
        <p:spPr>
          <a:xfrm xmlns:a="http://schemas.openxmlformats.org/drawingml/2006/main">
            <a:off x="609600" y="46577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9B6C3161-5182-4DC0-82E6-F361CE28D868}"/>
              </a:ext>
            </a:extLst>
          </p:cNvPr>
          <p:cNvSpPr>
            <a:spLocks xmlns:a="http://schemas.openxmlformats.org/drawingml/2006/main" noGrp="1"/>
          </p:cNvSpPr>
          <p:nvPr/>
        </p:nvSpPr>
        <p:spPr>
          <a:xfrm xmlns:a="http://schemas.openxmlformats.org/drawingml/2006/main">
            <a:off x="1428750" y="46577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Checklist dan riwayat keterampilan terpisah</a:t>
            </a:r>
          </a:p>
        </p:txBody>
      </p:sp>
      <p:sp>
        <p:nvSpPr>
          <p:cNvPr id="13" name="">
            <a:extLst xmlns:a="http://schemas.openxmlformats.org/drawingml/2006/main">
              <a:ext uri="{FF2B5EF4-FFF2-40B4-BE49-F238E27FC236}">
                <a16:creationId xmlns:a16="http://schemas.microsoft.com/office/drawing/2014/main" id="{22F602DC-5EAE-4FBB-8068-4CDC3A5B74B9}"/>
              </a:ext>
            </a:extLst>
          </p:cNvPr>
          <p:cNvSpPr>
            <a:spLocks xmlns:a="http://schemas.openxmlformats.org/drawingml/2006/main" noGrp="1"/>
          </p:cNvSpPr>
          <p:nvPr/>
        </p:nvSpPr>
        <p:spPr>
          <a:xfrm xmlns:a="http://schemas.openxmlformats.org/drawingml/2006/main">
            <a:off x="1428750" y="51149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Kendala harian dan kebutuhan pengembangan sulit ditindaklanjuti.</a:t>
            </a:r>
          </a:p>
        </p:txBody>
      </p:sp>
    </p:spTree>
    <p:extLst>
      <p:ext uri="{BB962C8B-B14F-4D97-AF65-F5344CB8AC3E}">
        <p14:creationId xmlns:p14="http://schemas.microsoft.com/office/powerpoint/2010/main" val="2068601643"/>
      </p:ext>
    </p:extLst>
  </p:cSld>
</p:sld>
</file>

<file path=ppt/slides/slide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616626A-B4D8-4754-9219-891E5F8580C5}"/>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INVESTOR</a:t>
            </a:r>
          </a:p>
        </p:txBody>
      </p:sp>
      <p:sp>
        <p:nvSpPr>
          <p:cNvPr id="2" name="">
            <a:extLst xmlns:a="http://schemas.openxmlformats.org/drawingml/2006/main">
              <a:ext uri="{FF2B5EF4-FFF2-40B4-BE49-F238E27FC236}">
                <a16:creationId xmlns:a16="http://schemas.microsoft.com/office/drawing/2014/main" id="{1BB10164-A0F5-463D-9467-CC0F4F8C3645}"/>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Pembeli dan pengguna</a:t>
            </a:r>
          </a:p>
        </p:txBody>
      </p:sp>
      <p:sp>
        <p:nvSpPr>
          <p:cNvPr id="3" name="">
            <a:extLst xmlns:a="http://schemas.openxmlformats.org/drawingml/2006/main">
              <a:ext uri="{FF2B5EF4-FFF2-40B4-BE49-F238E27FC236}">
                <a16:creationId xmlns:a16="http://schemas.microsoft.com/office/drawing/2014/main" id="{DF35DD7B-3D2B-43F3-9A37-54F498949D07}"/>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FCEFB0BA-AA27-4BC9-AD16-BA241DBF5940}"/>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04</a:t>
            </a:r>
          </a:p>
        </p:txBody>
      </p:sp>
      <p:sp>
        <p:nvSpPr>
          <p:cNvPr id="5" name="">
            <a:extLst xmlns:a="http://schemas.openxmlformats.org/drawingml/2006/main">
              <a:ext uri="{FF2B5EF4-FFF2-40B4-BE49-F238E27FC236}">
                <a16:creationId xmlns:a16="http://schemas.microsoft.com/office/drawing/2014/main" id="{00C40089-803A-40D5-B4C8-062F03DE1C0E}"/>
              </a:ext>
            </a:extLst>
          </p:cNvPr>
          <p:cNvSpPr>
            <a:spLocks xmlns:a="http://schemas.openxmlformats.org/drawingml/2006/main" noGrp="1"/>
          </p:cNvSpPr>
          <p:nvPr/>
        </p:nvSpPr>
        <p:spPr>
          <a:xfrm xmlns:a="http://schemas.openxmlformats.org/drawingml/2006/main">
            <a:off x="609600" y="2181225"/>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07F73"/>
                </a:solidFill>
                <a:latin typeface="DejaVu Sans"/>
                <a:ea typeface="DejaVu Sans"/>
                <a:cs typeface="DejaVu Sans"/>
              </a:defRPr>
            </a:defPPr>
          </a:lstStyle>
          <a:p xmlns:a="http://schemas.openxmlformats.org/drawingml/2006/main">
            <a:pPr>
              <a:defRPr sz="2250" b="1">
                <a:solidFill>
                  <a:srgbClr val="007F73"/>
                </a:solidFill>
                <a:latin typeface="DejaVu Sans"/>
                <a:ea typeface="DejaVu Sans"/>
                <a:cs typeface="DejaVu Sans"/>
              </a:defRPr>
            </a:pPr>
            <a:r>
              <a:rPr sz="2250" b="1">
                <a:solidFill>
                  <a:srgbClr val="007F73"/>
                </a:solidFill>
                <a:latin typeface="DejaVu Sans"/>
                <a:ea typeface="DejaVu Sans"/>
                <a:cs typeface="DejaVu Sans"/>
              </a:rPr>
              <a:t>Pembeli korporasi</a:t>
            </a:r>
          </a:p>
        </p:txBody>
      </p:sp>
      <p:sp>
        <p:nvSpPr>
          <p:cNvPr id="6" name="">
            <a:extLst xmlns:a="http://schemas.openxmlformats.org/drawingml/2006/main">
              <a:ext uri="{FF2B5EF4-FFF2-40B4-BE49-F238E27FC236}">
                <a16:creationId xmlns:a16="http://schemas.microsoft.com/office/drawing/2014/main" id="{F844EEC1-453D-4C4D-BC74-C61F02854238}"/>
              </a:ext>
            </a:extLst>
          </p:cNvPr>
          <p:cNvSpPr>
            <a:spLocks xmlns:a="http://schemas.openxmlformats.org/drawingml/2006/main" noGrp="1"/>
          </p:cNvSpPr>
          <p:nvPr/>
        </p:nvSpPr>
        <p:spPr>
          <a:xfrm xmlns:a="http://schemas.openxmlformats.org/drawingml/2006/main">
            <a:off x="609600" y="2933700"/>
            <a:ext cx="5048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E33"/>
                </a:solidFill>
                <a:latin typeface="DejaVu Sans"/>
                <a:ea typeface="DejaVu Sans"/>
                <a:cs typeface="DejaVu Sans"/>
              </a:defRPr>
            </a:defPPr>
          </a:lstStyle>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HR/L&amp;D dan manajer operasional</a:t>
            </a:r>
          </a:p>
          <a:p xmlns:a="http://schemas.openxmlformats.org/drawingml/2006/main">
            <a:r>
              <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Kebutuhan: menyiapkan staf dan menjaga standar di banyak cabang.</a:t>
            </a:r>
          </a:p>
        </p:txBody>
      </p:sp>
      <p:sp>
        <p:nvSpPr>
          <p:cNvPr id="7" name="">
            <a:extLst xmlns:a="http://schemas.openxmlformats.org/drawingml/2006/main">
              <a:ext uri="{FF2B5EF4-FFF2-40B4-BE49-F238E27FC236}">
                <a16:creationId xmlns:a16="http://schemas.microsoft.com/office/drawing/2014/main" id="{F043DF26-3C59-41E1-A28A-13B04B203ECB}"/>
              </a:ext>
            </a:extLst>
          </p:cNvPr>
          <p:cNvSpPr>
            <a:spLocks xmlns:a="http://schemas.openxmlformats.org/drawingml/2006/main" noGrp="1"/>
          </p:cNvSpPr>
          <p:nvPr/>
        </p:nvSpPr>
        <p:spPr>
          <a:xfrm xmlns:a="http://schemas.openxmlformats.org/drawingml/2006/main">
            <a:off x="6515100" y="2181225"/>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07F73"/>
                </a:solidFill>
                <a:latin typeface="DejaVu Sans"/>
                <a:ea typeface="DejaVu Sans"/>
                <a:cs typeface="DejaVu Sans"/>
              </a:defRPr>
            </a:defPPr>
          </a:lstStyle>
          <a:p xmlns:a="http://schemas.openxmlformats.org/drawingml/2006/main">
            <a:pPr>
              <a:defRPr sz="2250" b="1">
                <a:solidFill>
                  <a:srgbClr val="007F73"/>
                </a:solidFill>
                <a:latin typeface="DejaVu Sans"/>
                <a:ea typeface="DejaVu Sans"/>
                <a:cs typeface="DejaVu Sans"/>
              </a:defRPr>
            </a:pPr>
            <a:r>
              <a:rPr sz="2250" b="1">
                <a:solidFill>
                  <a:srgbClr val="007F73"/>
                </a:solidFill>
                <a:latin typeface="DejaVu Sans"/>
                <a:ea typeface="DejaVu Sans"/>
                <a:cs typeface="DejaVu Sans"/>
              </a:rPr>
              <a:t>Pengguna lapangan</a:t>
            </a:r>
          </a:p>
        </p:txBody>
      </p:sp>
      <p:sp>
        <p:nvSpPr>
          <p:cNvPr id="8" name="">
            <a:extLst xmlns:a="http://schemas.openxmlformats.org/drawingml/2006/main">
              <a:ext uri="{FF2B5EF4-FFF2-40B4-BE49-F238E27FC236}">
                <a16:creationId xmlns:a16="http://schemas.microsoft.com/office/drawing/2014/main" id="{728285E0-E13B-4DF9-9287-E25129F333DD}"/>
              </a:ext>
            </a:extLst>
          </p:cNvPr>
          <p:cNvSpPr>
            <a:spLocks xmlns:a="http://schemas.openxmlformats.org/drawingml/2006/main" noGrp="1"/>
          </p:cNvSpPr>
          <p:nvPr/>
        </p:nvSpPr>
        <p:spPr>
          <a:xfrm xmlns:a="http://schemas.openxmlformats.org/drawingml/2006/main">
            <a:off x="6515100" y="2933700"/>
            <a:ext cx="5048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E33"/>
                </a:solidFill>
                <a:latin typeface="DejaVu Sans"/>
                <a:ea typeface="DejaVu Sans"/>
                <a:cs typeface="DejaVu Sans"/>
              </a:defRPr>
            </a:defPPr>
          </a:lstStyle>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Pekerja baru dan supervisor</a:t>
            </a:r>
          </a:p>
          <a:p xmlns:a="http://schemas.openxmlformats.org/drawingml/2006/main">
            <a:r>
              <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Kebutuhan: tugas hari ini yang jelas, materi singkat, dan review praktik.</a:t>
            </a:r>
          </a:p>
        </p:txBody>
      </p:sp>
    </p:spTree>
    <p:extLst>
      <p:ext uri="{BB962C8B-B14F-4D97-AF65-F5344CB8AC3E}">
        <p14:creationId xmlns:p14="http://schemas.microsoft.com/office/powerpoint/2010/main" val="764018524"/>
      </p:ext>
    </p:extLst>
  </p:cSld>
</p:sld>
</file>

<file path=ppt/slides/slide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69C6459-548C-46CC-BD87-AFD7ED9F6DA6}"/>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INVESTOR</a:t>
            </a:r>
          </a:p>
        </p:txBody>
      </p:sp>
      <p:sp>
        <p:nvSpPr>
          <p:cNvPr id="2" name="">
            <a:extLst xmlns:a="http://schemas.openxmlformats.org/drawingml/2006/main">
              <a:ext uri="{FF2B5EF4-FFF2-40B4-BE49-F238E27FC236}">
                <a16:creationId xmlns:a16="http://schemas.microsoft.com/office/drawing/2014/main" id="{0F6DB2AD-2139-4F75-AF99-5DC5DC83D369}"/>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Cakupan nilai produk</a:t>
            </a:r>
          </a:p>
        </p:txBody>
      </p:sp>
      <p:sp>
        <p:nvSpPr>
          <p:cNvPr id="3" name="">
            <a:extLst xmlns:a="http://schemas.openxmlformats.org/drawingml/2006/main">
              <a:ext uri="{FF2B5EF4-FFF2-40B4-BE49-F238E27FC236}">
                <a16:creationId xmlns:a16="http://schemas.microsoft.com/office/drawing/2014/main" id="{2CCF0AB3-0DE1-425B-995C-0EBB63DF85E2}"/>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2F3286D8-041D-4DFB-A4E7-4EF0B2090856}"/>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05</a:t>
            </a:r>
          </a:p>
        </p:txBody>
      </p:sp>
      <p:graphicFrame>
        <p:nvGraphicFramePr>
          <p:cNvPr id="5" name="">
            <a:extLst xmlns:a="http://schemas.openxmlformats.org/drawingml/2006/main">
              <a:ext uri="{FF2B5EF4-FFF2-40B4-BE49-F238E27FC236}">
                <a16:creationId xmlns:a16="http://schemas.microsoft.com/office/drawing/2014/main" id="{542A1621-A979-456C-95FF-2520CEFC02A6}"/>
              </a:ext>
            </a:extLst>
          </p:cNvPr>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2667000"/>
                <a:gridCol w="4095750"/>
                <a:gridCol w="4210050"/>
              </a:tblGrid>
              <a:tr h="657225">
                <a:tc>
                  <a:txBody>
                    <a:bodyPr/>
                    <a:lstStyle/>
                    <a:p>
                      <a:r>
                        <a:rPr sz="1650" b="1">
                          <a:solidFill>
                            <a:srgbClr val="FFFFFF"/>
                          </a:solidFill>
                          <a:latin typeface="DejaVu Sans"/>
                          <a:ea typeface="DejaVu Sans"/>
                          <a:cs typeface="DejaVu Sans"/>
                        </a:rPr>
                        <a:t>Kebutuhan</a:t>
                      </a:r>
                    </a:p>
                  </a:txBody>
                  <a:tcPr marL="91440" marR="91440" marT="45720" marB="45720">
                    <a:lnL w="9525">
                      <a:solidFill>
                        <a:srgbClr val="D1DAD5"/>
                      </a:solidFill>
                      <a:prstDash val="solid"/>
                    </a:lnL>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Fungsi Karyanesia</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Bukti yang tersimpan</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r>
              <a:tr h="657225">
                <a:tc>
                  <a:txBody>
                    <a:bodyPr/>
                    <a:lstStyle/>
                    <a:p>
                      <a:r>
                        <a:rPr sz="1650" b="0">
                          <a:solidFill>
                            <a:srgbClr val="142E33"/>
                          </a:solidFill>
                          <a:latin typeface="DejaVu Sans"/>
                          <a:ea typeface="DejaVu Sans"/>
                          <a:cs typeface="DejaVu Sans"/>
                        </a:rPr>
                        <a:t>Siap bekerja</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Jalur onboarding dan kuis</a:t>
                      </a:r>
                    </a:p>
                  </a:txBody>
                  <a:tcPr marL="91440" marR="91440" marT="45720" marB="45720">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Progres serta hasil teori</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Mampu menjalankan tugas</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Observasi supervisor</a:t>
                      </a:r>
                    </a:p>
                  </a:txBody>
                  <a:tcPr marL="91440" marR="91440" marT="45720" marB="45720">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Rubrik praktik dan assessor</a:t>
                      </a:r>
                    </a:p>
                  </a:txBody>
                  <a:tcPr marL="91440" marR="91440" marT="45720" marB="45720">
                    <a:lnR w="9525">
                      <a:solidFill>
                        <a:srgbClr val="D1DAD5"/>
                      </a:solidFill>
                      <a:prstDash val="solid"/>
                    </a:lnR>
                    <a:lnB w="9525">
                      <a:solidFill>
                        <a:srgbClr val="D1DAD5"/>
                      </a:solidFill>
                      <a:prstDash val="solid"/>
                    </a:lnB>
                    <a:solidFill>
                      <a:srgbClr val="EAF0E9"/>
                    </a:solidFill>
                  </a:tcPr>
                </a:tc>
              </a:tr>
              <a:tr h="657225">
                <a:tc>
                  <a:txBody>
                    <a:bodyPr/>
                    <a:lstStyle/>
                    <a:p>
                      <a:r>
                        <a:rPr sz="1650" b="0">
                          <a:solidFill>
                            <a:srgbClr val="142E33"/>
                          </a:solidFill>
                          <a:latin typeface="DejaVu Sans"/>
                          <a:ea typeface="DejaVu Sans"/>
                          <a:cs typeface="DejaVu Sans"/>
                        </a:rPr>
                        <a:t>Konsisten setiap hari</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Checklist dan tindak lanjut</a:t>
                      </a:r>
                    </a:p>
                  </a:txBody>
                  <a:tcPr marL="91440" marR="91440" marT="45720" marB="45720">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Submission, review, kendala</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Berkembang di perusahaan</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Matriks kompetensi</a:t>
                      </a:r>
                    </a:p>
                  </a:txBody>
                  <a:tcPr marL="91440" marR="91440" marT="45720" marB="45720">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Skill terverifikasi dan masa berlaku</a:t>
                      </a:r>
                    </a:p>
                  </a:txBody>
                  <a:tcPr marL="91440" marR="91440" marT="45720" marB="45720">
                    <a:lnR w="9525">
                      <a:solidFill>
                        <a:srgbClr val="D1DAD5"/>
                      </a:solidFill>
                      <a:prstDash val="solid"/>
                    </a:lnR>
                    <a:lnB w="9525">
                      <a:solidFill>
                        <a:srgbClr val="D1DAD5"/>
                      </a:solidFill>
                      <a:prstDash val="solid"/>
                    </a:lnB>
                    <a:solidFill>
                      <a:srgbClr val="EAF0E9"/>
                    </a:solidFill>
                  </a:tcPr>
                </a:tc>
              </a:tr>
            </a:tbl>
          </a:graphicData>
        </a:graphic>
      </p:graphicFrame>
    </p:spTree>
    <p:extLst>
      <p:ext uri="{BB962C8B-B14F-4D97-AF65-F5344CB8AC3E}">
        <p14:creationId xmlns:p14="http://schemas.microsoft.com/office/powerpoint/2010/main" val="205775028"/>
      </p:ext>
    </p:extLst>
  </p:cSld>
</p:sld>
</file>

<file path=ppt/slides/slide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F72AFD5-B586-448A-A601-E11866841CD3}"/>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INVESTOR</a:t>
            </a:r>
          </a:p>
        </p:txBody>
      </p:sp>
      <p:sp>
        <p:nvSpPr>
          <p:cNvPr id="2" name="">
            <a:extLst xmlns:a="http://schemas.openxmlformats.org/drawingml/2006/main">
              <a:ext uri="{FF2B5EF4-FFF2-40B4-BE49-F238E27FC236}">
                <a16:creationId xmlns:a16="http://schemas.microsoft.com/office/drawing/2014/main" id="{3947AFD0-0728-4BE4-A0B7-01242E67E6BF}"/>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Pengalaman pekerja baru</a:t>
            </a:r>
          </a:p>
        </p:txBody>
      </p:sp>
      <p:sp>
        <p:nvSpPr>
          <p:cNvPr id="3" name="">
            <a:extLst xmlns:a="http://schemas.openxmlformats.org/drawingml/2006/main">
              <a:ext uri="{FF2B5EF4-FFF2-40B4-BE49-F238E27FC236}">
                <a16:creationId xmlns:a16="http://schemas.microsoft.com/office/drawing/2014/main" id="{522E5199-9482-4842-B9DF-7821A3F5FAF3}"/>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58C9C084-CC9D-4648-8E81-25AB7E6116D2}"/>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06</a:t>
            </a:r>
          </a:p>
        </p:txBody>
      </p:sp>
      <p:sp>
        <p:nvSpPr>
          <p:cNvPr id="5" name="">
            <a:extLst xmlns:a="http://schemas.openxmlformats.org/drawingml/2006/main">
              <a:ext uri="{FF2B5EF4-FFF2-40B4-BE49-F238E27FC236}">
                <a16:creationId xmlns:a16="http://schemas.microsoft.com/office/drawing/2014/main" id="{58E68C7D-8B3D-455C-8A1C-F77899728B01}"/>
              </a:ext>
            </a:extLst>
          </p:cNvPr>
          <p:cNvSpPr>
            <a:spLocks xmlns:a="http://schemas.openxmlformats.org/drawingml/2006/main" noGrp="1"/>
          </p:cNvSpPr>
          <p:nvPr/>
        </p:nvSpPr>
        <p:spPr>
          <a:xfrm xmlns:a="http://schemas.openxmlformats.org/drawingml/2006/main">
            <a:off x="609600" y="21431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464E2208-4307-410E-8DF2-5001022729B4}"/>
              </a:ext>
            </a:extLst>
          </p:cNvPr>
          <p:cNvSpPr>
            <a:spLocks xmlns:a="http://schemas.openxmlformats.org/drawingml/2006/main" noGrp="1"/>
          </p:cNvSpPr>
          <p:nvPr/>
        </p:nvSpPr>
        <p:spPr>
          <a:xfrm xmlns:a="http://schemas.openxmlformats.org/drawingml/2006/main">
            <a:off x="1428750" y="21431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Belajar sesuai jabatan</a:t>
            </a:r>
          </a:p>
        </p:txBody>
      </p:sp>
      <p:sp>
        <p:nvSpPr>
          <p:cNvPr id="7" name="">
            <a:extLst xmlns:a="http://schemas.openxmlformats.org/drawingml/2006/main">
              <a:ext uri="{FF2B5EF4-FFF2-40B4-BE49-F238E27FC236}">
                <a16:creationId xmlns:a16="http://schemas.microsoft.com/office/drawing/2014/main" id="{1B8AA85C-761A-4A16-BF49-C16A81F9166A}"/>
              </a:ext>
            </a:extLst>
          </p:cNvPr>
          <p:cNvSpPr>
            <a:spLocks xmlns:a="http://schemas.openxmlformats.org/drawingml/2006/main" noGrp="1"/>
          </p:cNvSpPr>
          <p:nvPr/>
        </p:nvSpPr>
        <p:spPr>
          <a:xfrm xmlns:a="http://schemas.openxmlformats.org/drawingml/2006/main">
            <a:off x="1428750" y="26003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Video sasaran 2 menit, transkrip, dan kuis gambar.</a:t>
            </a:r>
          </a:p>
        </p:txBody>
      </p:sp>
      <p:sp>
        <p:nvSpPr>
          <p:cNvPr id="8" name="">
            <a:extLst xmlns:a="http://schemas.openxmlformats.org/drawingml/2006/main">
              <a:ext uri="{FF2B5EF4-FFF2-40B4-BE49-F238E27FC236}">
                <a16:creationId xmlns:a16="http://schemas.microsoft.com/office/drawing/2014/main" id="{8C665DF9-D782-4C50-B2F2-A87B8ABD7B41}"/>
              </a:ext>
            </a:extLst>
          </p:cNvPr>
          <p:cNvSpPr>
            <a:spLocks xmlns:a="http://schemas.openxmlformats.org/drawingml/2006/main" noGrp="1"/>
          </p:cNvSpPr>
          <p:nvPr/>
        </p:nvSpPr>
        <p:spPr>
          <a:xfrm xmlns:a="http://schemas.openxmlformats.org/drawingml/2006/main">
            <a:off x="60960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0893CA7F-9D08-4FC9-9358-71B5CEE1EA54}"/>
              </a:ext>
            </a:extLst>
          </p:cNvPr>
          <p:cNvSpPr>
            <a:spLocks xmlns:a="http://schemas.openxmlformats.org/drawingml/2006/main" noGrp="1"/>
          </p:cNvSpPr>
          <p:nvPr/>
        </p:nvSpPr>
        <p:spPr>
          <a:xfrm xmlns:a="http://schemas.openxmlformats.org/drawingml/2006/main">
            <a:off x="1428750" y="34004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Menunjukkan kemampuan praktik</a:t>
            </a:r>
          </a:p>
        </p:txBody>
      </p:sp>
      <p:sp>
        <p:nvSpPr>
          <p:cNvPr id="10" name="">
            <a:extLst xmlns:a="http://schemas.openxmlformats.org/drawingml/2006/main">
              <a:ext uri="{FF2B5EF4-FFF2-40B4-BE49-F238E27FC236}">
                <a16:creationId xmlns:a16="http://schemas.microsoft.com/office/drawing/2014/main" id="{A7012129-024D-453D-BBB3-8033AA72A4AE}"/>
              </a:ext>
            </a:extLst>
          </p:cNvPr>
          <p:cNvSpPr>
            <a:spLocks xmlns:a="http://schemas.openxmlformats.org/drawingml/2006/main" noGrp="1"/>
          </p:cNvSpPr>
          <p:nvPr/>
        </p:nvSpPr>
        <p:spPr>
          <a:xfrm xmlns:a="http://schemas.openxmlformats.org/drawingml/2006/main">
            <a:off x="1428750" y="38576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Supervisor memakai rubrik dan memberikan arahan latihan.</a:t>
            </a:r>
          </a:p>
        </p:txBody>
      </p:sp>
      <p:sp>
        <p:nvSpPr>
          <p:cNvPr id="11" name="">
            <a:extLst xmlns:a="http://schemas.openxmlformats.org/drawingml/2006/main">
              <a:ext uri="{FF2B5EF4-FFF2-40B4-BE49-F238E27FC236}">
                <a16:creationId xmlns:a16="http://schemas.microsoft.com/office/drawing/2014/main" id="{4057C26F-8C7F-4AF1-9FA9-55E02D6B697B}"/>
              </a:ext>
            </a:extLst>
          </p:cNvPr>
          <p:cNvSpPr>
            <a:spLocks xmlns:a="http://schemas.openxmlformats.org/drawingml/2006/main" noGrp="1"/>
          </p:cNvSpPr>
          <p:nvPr/>
        </p:nvSpPr>
        <p:spPr>
          <a:xfrm xmlns:a="http://schemas.openxmlformats.org/drawingml/2006/main">
            <a:off x="609600" y="46577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1DDF983D-3DD1-4722-990D-CF2558735B4F}"/>
              </a:ext>
            </a:extLst>
          </p:cNvPr>
          <p:cNvSpPr>
            <a:spLocks xmlns:a="http://schemas.openxmlformats.org/drawingml/2006/main" noGrp="1"/>
          </p:cNvSpPr>
          <p:nvPr/>
        </p:nvSpPr>
        <p:spPr>
          <a:xfrm xmlns:a="http://schemas.openxmlformats.org/drawingml/2006/main">
            <a:off x="1428750" y="46577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Menjalankan SOP harian</a:t>
            </a:r>
          </a:p>
        </p:txBody>
      </p:sp>
      <p:sp>
        <p:nvSpPr>
          <p:cNvPr id="13" name="">
            <a:extLst xmlns:a="http://schemas.openxmlformats.org/drawingml/2006/main">
              <a:ext uri="{FF2B5EF4-FFF2-40B4-BE49-F238E27FC236}">
                <a16:creationId xmlns:a16="http://schemas.microsoft.com/office/drawing/2014/main" id="{A26FA702-A888-40C8-A169-9DB7E2B275A4}"/>
              </a:ext>
            </a:extLst>
          </p:cNvPr>
          <p:cNvSpPr>
            <a:spLocks xmlns:a="http://schemas.openxmlformats.org/drawingml/2006/main" noGrp="1"/>
          </p:cNvSpPr>
          <p:nvPr/>
        </p:nvSpPr>
        <p:spPr>
          <a:xfrm xmlns:a="http://schemas.openxmlformats.org/drawingml/2006/main">
            <a:off x="1428750" y="51149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Staf mengisi checklist, melaporkan kendala, dan menerima review.</a:t>
            </a:r>
          </a:p>
        </p:txBody>
      </p:sp>
    </p:spTree>
    <p:extLst>
      <p:ext uri="{BB962C8B-B14F-4D97-AF65-F5344CB8AC3E}">
        <p14:creationId xmlns:p14="http://schemas.microsoft.com/office/powerpoint/2010/main" val="1475330539"/>
      </p:ext>
    </p:extLst>
  </p:cSld>
</p:sld>
</file>

<file path=ppt/slides/slide7.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B197563-294F-452D-B76D-1FC01A738953}"/>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INVESTOR</a:t>
            </a:r>
          </a:p>
        </p:txBody>
      </p:sp>
      <p:sp>
        <p:nvSpPr>
          <p:cNvPr id="2" name="">
            <a:extLst xmlns:a="http://schemas.openxmlformats.org/drawingml/2006/main">
              <a:ext uri="{FF2B5EF4-FFF2-40B4-BE49-F238E27FC236}">
                <a16:creationId xmlns:a16="http://schemas.microsoft.com/office/drawing/2014/main" id="{DA33D3F0-AD76-479F-BAA1-6570005CB6BA}"/>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Batas MVP v0.0.1</a:t>
            </a:r>
          </a:p>
        </p:txBody>
      </p:sp>
      <p:sp>
        <p:nvSpPr>
          <p:cNvPr id="3" name="">
            <a:extLst xmlns:a="http://schemas.openxmlformats.org/drawingml/2006/main">
              <a:ext uri="{FF2B5EF4-FFF2-40B4-BE49-F238E27FC236}">
                <a16:creationId xmlns:a16="http://schemas.microsoft.com/office/drawing/2014/main" id="{4928A0F2-8E2A-4861-AA00-81EDE7C76E4B}"/>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8E0B3144-0258-4AD2-ADB9-9EC4E0CC0DB5}"/>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07</a:t>
            </a:r>
          </a:p>
        </p:txBody>
      </p:sp>
      <p:sp>
        <p:nvSpPr>
          <p:cNvPr id="5" name="">
            <a:extLst xmlns:a="http://schemas.openxmlformats.org/drawingml/2006/main">
              <a:ext uri="{FF2B5EF4-FFF2-40B4-BE49-F238E27FC236}">
                <a16:creationId xmlns:a16="http://schemas.microsoft.com/office/drawing/2014/main" id="{5852155C-2556-4788-88E3-54854409D75B}"/>
              </a:ext>
            </a:extLst>
          </p:cNvPr>
          <p:cNvSpPr>
            <a:spLocks xmlns:a="http://schemas.openxmlformats.org/drawingml/2006/main" noGrp="1"/>
          </p:cNvSpPr>
          <p:nvPr/>
        </p:nvSpPr>
        <p:spPr>
          <a:xfrm xmlns:a="http://schemas.openxmlformats.org/drawingml/2006/main">
            <a:off x="609600" y="2181225"/>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07F73"/>
                </a:solidFill>
                <a:latin typeface="DejaVu Sans"/>
                <a:ea typeface="DejaVu Sans"/>
                <a:cs typeface="DejaVu Sans"/>
              </a:defRPr>
            </a:defPPr>
          </a:lstStyle>
          <a:p xmlns:a="http://schemas.openxmlformats.org/drawingml/2006/main">
            <a:pPr>
              <a:defRPr sz="2250" b="1">
                <a:solidFill>
                  <a:srgbClr val="007F73"/>
                </a:solidFill>
                <a:latin typeface="DejaVu Sans"/>
                <a:ea typeface="DejaVu Sans"/>
                <a:cs typeface="DejaVu Sans"/>
              </a:defRPr>
            </a:pPr>
            <a:r>
              <a:rPr sz="2250" b="1">
                <a:solidFill>
                  <a:srgbClr val="007F73"/>
                </a:solidFill>
                <a:latin typeface="DejaVu Sans"/>
                <a:ea typeface="DejaVu Sans"/>
                <a:cs typeface="DejaVu Sans"/>
              </a:rPr>
              <a:t>Wajib untuk pilot</a:t>
            </a:r>
          </a:p>
        </p:txBody>
      </p:sp>
      <p:sp>
        <p:nvSpPr>
          <p:cNvPr id="6" name="">
            <a:extLst xmlns:a="http://schemas.openxmlformats.org/drawingml/2006/main">
              <a:ext uri="{FF2B5EF4-FFF2-40B4-BE49-F238E27FC236}">
                <a16:creationId xmlns:a16="http://schemas.microsoft.com/office/drawing/2014/main" id="{B527CECB-071F-4881-BB13-EF56AE90372B}"/>
              </a:ext>
            </a:extLst>
          </p:cNvPr>
          <p:cNvSpPr>
            <a:spLocks xmlns:a="http://schemas.openxmlformats.org/drawingml/2006/main" noGrp="1"/>
          </p:cNvSpPr>
          <p:nvPr/>
        </p:nvSpPr>
        <p:spPr>
          <a:xfrm xmlns:a="http://schemas.openxmlformats.org/drawingml/2006/main">
            <a:off x="609600" y="2933700"/>
            <a:ext cx="5048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E33"/>
                </a:solidFill>
                <a:latin typeface="DejaVu Sans"/>
                <a:ea typeface="DejaVu Sans"/>
                <a:cs typeface="DejaVu Sans"/>
              </a:defRPr>
            </a:defPPr>
          </a:lstStyle>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Akun dan scope cabang</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Materi versi dan kuis</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Onboarding dan praktik</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Checklist serta kendala</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Kompetensi, laporan dan audit</a:t>
            </a:r>
          </a:p>
        </p:txBody>
      </p:sp>
      <p:sp>
        <p:nvSpPr>
          <p:cNvPr id="7" name="">
            <a:extLst xmlns:a="http://schemas.openxmlformats.org/drawingml/2006/main">
              <a:ext uri="{FF2B5EF4-FFF2-40B4-BE49-F238E27FC236}">
                <a16:creationId xmlns:a16="http://schemas.microsoft.com/office/drawing/2014/main" id="{A27EF58F-7F35-4DE3-A1AC-EBDEBE5DFD80}"/>
              </a:ext>
            </a:extLst>
          </p:cNvPr>
          <p:cNvSpPr>
            <a:spLocks xmlns:a="http://schemas.openxmlformats.org/drawingml/2006/main" noGrp="1"/>
          </p:cNvSpPr>
          <p:nvPr/>
        </p:nvSpPr>
        <p:spPr>
          <a:xfrm xmlns:a="http://schemas.openxmlformats.org/drawingml/2006/main">
            <a:off x="6515100" y="2181225"/>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07F73"/>
                </a:solidFill>
                <a:latin typeface="DejaVu Sans"/>
                <a:ea typeface="DejaVu Sans"/>
                <a:cs typeface="DejaVu Sans"/>
              </a:defRPr>
            </a:defPPr>
          </a:lstStyle>
          <a:p xmlns:a="http://schemas.openxmlformats.org/drawingml/2006/main">
            <a:pPr>
              <a:defRPr sz="2250" b="1">
                <a:solidFill>
                  <a:srgbClr val="007F73"/>
                </a:solidFill>
                <a:latin typeface="DejaVu Sans"/>
                <a:ea typeface="DejaVu Sans"/>
                <a:cs typeface="DejaVu Sans"/>
              </a:defRPr>
            </a:pPr>
            <a:r>
              <a:rPr sz="2250" b="1">
                <a:solidFill>
                  <a:srgbClr val="007F73"/>
                </a:solidFill>
                <a:latin typeface="DejaVu Sans"/>
                <a:ea typeface="DejaVu Sans"/>
                <a:cs typeface="DejaVu Sans"/>
              </a:rPr>
              <a:t>Fase berikutnya</a:t>
            </a:r>
          </a:p>
        </p:txBody>
      </p:sp>
      <p:sp>
        <p:nvSpPr>
          <p:cNvPr id="8" name="">
            <a:extLst xmlns:a="http://schemas.openxmlformats.org/drawingml/2006/main">
              <a:ext uri="{FF2B5EF4-FFF2-40B4-BE49-F238E27FC236}">
                <a16:creationId xmlns:a16="http://schemas.microsoft.com/office/drawing/2014/main" id="{F4D5ABA0-6F79-4317-90D8-F3854598CDF5}"/>
              </a:ext>
            </a:extLst>
          </p:cNvPr>
          <p:cNvSpPr>
            <a:spLocks xmlns:a="http://schemas.openxmlformats.org/drawingml/2006/main" noGrp="1"/>
          </p:cNvSpPr>
          <p:nvPr/>
        </p:nvSpPr>
        <p:spPr>
          <a:xfrm xmlns:a="http://schemas.openxmlformats.org/drawingml/2006/main">
            <a:off x="6515100" y="2933700"/>
            <a:ext cx="5048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E33"/>
                </a:solidFill>
                <a:latin typeface="DejaVu Sans"/>
                <a:ea typeface="DejaVu Sans"/>
                <a:cs typeface="DejaVu Sans"/>
              </a:defRPr>
            </a:defPPr>
          </a:lstStyle>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Offline penuh dan native app</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SSO serta integrasi HRIS</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AI pembantu materi</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Billing otomatis</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WhatsApp dan SCORM/xAPI</a:t>
            </a:r>
          </a:p>
        </p:txBody>
      </p:sp>
    </p:spTree>
    <p:extLst>
      <p:ext uri="{BB962C8B-B14F-4D97-AF65-F5344CB8AC3E}">
        <p14:creationId xmlns:p14="http://schemas.microsoft.com/office/powerpoint/2010/main" val="2029810501"/>
      </p:ext>
    </p:extLst>
  </p:cSld>
</p:sld>
</file>

<file path=ppt/slides/slide8.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AF9E16A-E859-4159-A14A-F00A6919E664}"/>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INVESTOR</a:t>
            </a:r>
          </a:p>
        </p:txBody>
      </p:sp>
      <p:sp>
        <p:nvSpPr>
          <p:cNvPr id="2" name="">
            <a:extLst xmlns:a="http://schemas.openxmlformats.org/drawingml/2006/main">
              <a:ext uri="{FF2B5EF4-FFF2-40B4-BE49-F238E27FC236}">
                <a16:creationId xmlns:a16="http://schemas.microsoft.com/office/drawing/2014/main" id="{2FF3AF5B-36E0-4C98-8F7F-750858DAE4B2}"/>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Rencana pilot ritel</a:t>
            </a:r>
          </a:p>
        </p:txBody>
      </p:sp>
      <p:sp>
        <p:nvSpPr>
          <p:cNvPr id="3" name="">
            <a:extLst xmlns:a="http://schemas.openxmlformats.org/drawingml/2006/main">
              <a:ext uri="{FF2B5EF4-FFF2-40B4-BE49-F238E27FC236}">
                <a16:creationId xmlns:a16="http://schemas.microsoft.com/office/drawing/2014/main" id="{D16D6407-D9E9-4237-9E89-F3C4FBF4AB36}"/>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63DE0CA2-6711-46C6-8028-D557CF4D927D}"/>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08</a:t>
            </a:r>
          </a:p>
        </p:txBody>
      </p:sp>
      <p:sp>
        <p:nvSpPr>
          <p:cNvPr id="5" name="">
            <a:extLst xmlns:a="http://schemas.openxmlformats.org/drawingml/2006/main">
              <a:ext uri="{FF2B5EF4-FFF2-40B4-BE49-F238E27FC236}">
                <a16:creationId xmlns:a16="http://schemas.microsoft.com/office/drawing/2014/main" id="{04294BED-D7B5-42DF-A9AC-79CA9AB3FE47}"/>
              </a:ext>
            </a:extLst>
          </p:cNvPr>
          <p:cNvSpPr>
            <a:spLocks xmlns:a="http://schemas.openxmlformats.org/drawingml/2006/main" noGrp="1"/>
          </p:cNvSpPr>
          <p:nvPr/>
        </p:nvSpPr>
        <p:spPr>
          <a:xfrm xmlns:a="http://schemas.openxmlformats.org/drawingml/2006/main">
            <a:off x="609600" y="2076450"/>
            <a:ext cx="5810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6450" b="1">
                <a:solidFill>
                  <a:srgbClr val="007F73"/>
                </a:solidFill>
                <a:latin typeface="DejaVu Sans"/>
                <a:ea typeface="DejaVu Sans"/>
                <a:cs typeface="DejaVu Sans"/>
              </a:defRPr>
            </a:defPPr>
          </a:lstStyle>
          <a:p xmlns:a="http://schemas.openxmlformats.org/drawingml/2006/main">
            <a:pPr>
              <a:defRPr sz="6450" b="1">
                <a:solidFill>
                  <a:srgbClr val="007F73"/>
                </a:solidFill>
                <a:latin typeface="DejaVu Sans"/>
                <a:ea typeface="DejaVu Sans"/>
                <a:cs typeface="DejaVu Sans"/>
              </a:defRPr>
            </a:pPr>
            <a:r>
              <a:rPr sz="6450" b="1">
                <a:solidFill>
                  <a:srgbClr val="007F73"/>
                </a:solidFill>
                <a:latin typeface="DejaVu Sans"/>
                <a:ea typeface="DejaVu Sans"/>
                <a:cs typeface="DejaVu Sans"/>
              </a:rPr>
              <a:t>50–100</a:t>
            </a:r>
          </a:p>
        </p:txBody>
      </p:sp>
      <p:sp>
        <p:nvSpPr>
          <p:cNvPr id="6" name="">
            <a:extLst xmlns:a="http://schemas.openxmlformats.org/drawingml/2006/main">
              <a:ext uri="{FF2B5EF4-FFF2-40B4-BE49-F238E27FC236}">
                <a16:creationId xmlns:a16="http://schemas.microsoft.com/office/drawing/2014/main" id="{BE0D6768-D829-4F25-A210-E9BFB584331C}"/>
              </a:ext>
            </a:extLst>
          </p:cNvPr>
          <p:cNvSpPr>
            <a:spLocks xmlns:a="http://schemas.openxmlformats.org/drawingml/2006/main" noGrp="1"/>
          </p:cNvSpPr>
          <p:nvPr/>
        </p:nvSpPr>
        <p:spPr>
          <a:xfrm xmlns:a="http://schemas.openxmlformats.org/drawingml/2006/main">
            <a:off x="609600" y="321945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42E33"/>
                </a:solidFill>
                <a:latin typeface="DejaVu Sans"/>
                <a:ea typeface="DejaVu Sans"/>
                <a:cs typeface="DejaVu Sans"/>
              </a:defRPr>
            </a:defPPr>
          </a:lstStyle>
          <a:p xmlns:a="http://schemas.openxmlformats.org/drawingml/2006/main">
            <a:pPr>
              <a:defRPr sz="2100" b="0">
                <a:solidFill>
                  <a:srgbClr val="142E33"/>
                </a:solidFill>
                <a:latin typeface="DejaVu Sans"/>
                <a:ea typeface="DejaVu Sans"/>
                <a:cs typeface="DejaVu Sans"/>
              </a:defRPr>
            </a:pPr>
            <a:r>
              <a:rPr sz="2100" b="0">
                <a:solidFill>
                  <a:srgbClr val="142E33"/>
                </a:solidFill>
                <a:latin typeface="DejaVu Sans"/>
                <a:ea typeface="DejaVu Sans"/>
                <a:cs typeface="DejaVu Sans"/>
              </a:rPr>
              <a:t>pekerja dalam usulan pilot</a:t>
            </a:r>
          </a:p>
        </p:txBody>
      </p:sp>
      <p:sp>
        <p:nvSpPr>
          <p:cNvPr id="7" name="">
            <a:extLst xmlns:a="http://schemas.openxmlformats.org/drawingml/2006/main">
              <a:ext uri="{FF2B5EF4-FFF2-40B4-BE49-F238E27FC236}">
                <a16:creationId xmlns:a16="http://schemas.microsoft.com/office/drawing/2014/main" id="{57C16B40-4F8C-4054-B41E-12AE4E51136D}"/>
              </a:ext>
            </a:extLst>
          </p:cNvPr>
          <p:cNvSpPr>
            <a:spLocks xmlns:a="http://schemas.openxmlformats.org/drawingml/2006/main" noGrp="1"/>
          </p:cNvSpPr>
          <p:nvPr/>
        </p:nvSpPr>
        <p:spPr>
          <a:xfrm xmlns:a="http://schemas.openxmlformats.org/drawingml/2006/main">
            <a:off x="7620000" y="2181225"/>
            <a:ext cx="3810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625" b="1">
                <a:solidFill>
                  <a:srgbClr val="142E33"/>
                </a:solidFill>
                <a:latin typeface="DejaVu Sans"/>
                <a:ea typeface="DejaVu Sans"/>
                <a:cs typeface="DejaVu Sans"/>
              </a:defRPr>
            </a:defPPr>
          </a:lstStyle>
          <a:p xmlns:a="http://schemas.openxmlformats.org/drawingml/2006/main">
            <a:pPr>
              <a:defRPr sz="2625" b="1">
                <a:solidFill>
                  <a:srgbClr val="142E33"/>
                </a:solidFill>
                <a:latin typeface="DejaVu Sans"/>
                <a:ea typeface="DejaVu Sans"/>
                <a:cs typeface="DejaVu Sans"/>
              </a:defRPr>
            </a:pPr>
            <a:r>
              <a:rPr sz="2625" b="1">
                <a:solidFill>
                  <a:srgbClr val="142E33"/>
                </a:solidFill>
                <a:latin typeface="DejaVu Sans"/>
                <a:ea typeface="DejaVu Sans"/>
                <a:cs typeface="DejaVu Sans"/>
              </a:rPr>
              <a:t>1 perusahaan</a:t>
            </a:r>
          </a:p>
          <a:p xmlns:a="http://schemas.openxmlformats.org/drawingml/2006/main">
            <a:pPr>
              <a:defRPr sz="2625" b="1">
                <a:solidFill>
                  <a:srgbClr val="142E33"/>
                </a:solidFill>
                <a:latin typeface="DejaVu Sans"/>
                <a:ea typeface="DejaVu Sans"/>
                <a:cs typeface="DejaVu Sans"/>
              </a:defRPr>
            </a:pPr>
            <a:r>
              <a:rPr sz="2625" b="1">
                <a:solidFill>
                  <a:srgbClr val="142E33"/>
                </a:solidFill>
                <a:latin typeface="DejaVu Sans"/>
                <a:ea typeface="DejaVu Sans"/>
                <a:cs typeface="DejaVu Sans"/>
              </a:rPr>
              <a:t>2–3 cabang</a:t>
            </a:r>
          </a:p>
          <a:p xmlns:a="http://schemas.openxmlformats.org/drawingml/2006/main">
            <a:pPr>
              <a:defRPr sz="2625" b="1">
                <a:solidFill>
                  <a:srgbClr val="142E33"/>
                </a:solidFill>
                <a:latin typeface="DejaVu Sans"/>
                <a:ea typeface="DejaVu Sans"/>
                <a:cs typeface="DejaVu Sans"/>
              </a:defRPr>
            </a:pPr>
            <a:r>
              <a:rPr sz="2625" b="1">
                <a:solidFill>
                  <a:srgbClr val="142E33"/>
                </a:solidFill>
                <a:latin typeface="DejaVu Sans"/>
                <a:ea typeface="DejaVu Sans"/>
                <a:cs typeface="DejaVu Sans"/>
              </a:rPr>
              <a:t>3 jabatan</a:t>
            </a:r>
          </a:p>
        </p:txBody>
      </p:sp>
      <p:sp>
        <p:nvSpPr>
          <p:cNvPr id="8" name="">
            <a:extLst xmlns:a="http://schemas.openxmlformats.org/drawingml/2006/main">
              <a:ext uri="{FF2B5EF4-FFF2-40B4-BE49-F238E27FC236}">
                <a16:creationId xmlns:a16="http://schemas.microsoft.com/office/drawing/2014/main" id="{46BE9B2E-E5BD-4FD4-A683-27A281BA289E}"/>
              </a:ext>
            </a:extLst>
          </p:cNvPr>
          <p:cNvSpPr>
            <a:spLocks xmlns:a="http://schemas.openxmlformats.org/drawingml/2006/main" noGrp="1"/>
          </p:cNvSpPr>
          <p:nvPr/>
        </p:nvSpPr>
        <p:spPr>
          <a:xfrm xmlns:a="http://schemas.openxmlformats.org/drawingml/2006/main">
            <a:off x="609600" y="4476750"/>
            <a:ext cx="1047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52686A"/>
                </a:solidFill>
                <a:latin typeface="DejaVu Sans"/>
                <a:ea typeface="DejaVu Sans"/>
                <a:cs typeface="DejaVu Sans"/>
              </a:defRPr>
            </a:defPPr>
          </a:lstStyle>
          <a:p xmlns:a="http://schemas.openxmlformats.org/drawingml/2006/main">
            <a:pPr>
              <a:defRPr sz="2175" b="0">
                <a:solidFill>
                  <a:srgbClr val="52686A"/>
                </a:solidFill>
                <a:latin typeface="DejaVu Sans"/>
                <a:ea typeface="DejaVu Sans"/>
                <a:cs typeface="DejaVu Sans"/>
              </a:defRPr>
            </a:pPr>
            <a:r>
              <a:rPr sz="2175" b="0">
                <a:solidFill>
                  <a:srgbClr val="52686A"/>
                </a:solidFill>
                <a:latin typeface="DejaVu Sans"/>
                <a:ea typeface="DejaVu Sans"/>
                <a:cs typeface="DejaVu Sans"/>
              </a:rPr>
              <a:t>2 minggu baseline dan 4 minggu penggunaan</a:t>
            </a:r>
          </a:p>
          <a:p xmlns:a="http://schemas.openxmlformats.org/drawingml/2006/main">
            <a:pPr>
              <a:defRPr sz="2175" b="0">
                <a:solidFill>
                  <a:srgbClr val="52686A"/>
                </a:solidFill>
                <a:latin typeface="DejaVu Sans"/>
                <a:ea typeface="DejaVu Sans"/>
                <a:cs typeface="DejaVu Sans"/>
              </a:defRPr>
            </a:pPr>
            <a:r>
              <a:rPr sz="2175" b="0">
                <a:solidFill>
                  <a:srgbClr val="52686A"/>
                </a:solidFill>
                <a:latin typeface="DejaVu Sans"/>
                <a:ea typeface="DejaVu Sans"/>
                <a:cs typeface="DejaVu Sans"/>
              </a:rPr>
              <a:t>10–15 modul, 3 jalur onboarding, 3 template checklist</a:t>
            </a:r>
          </a:p>
        </p:txBody>
      </p:sp>
      <p:sp>
        <p:nvSpPr>
          <p:cNvPr id="9" name="">
            <a:extLst xmlns:a="http://schemas.openxmlformats.org/drawingml/2006/main">
              <a:ext uri="{FF2B5EF4-FFF2-40B4-BE49-F238E27FC236}">
                <a16:creationId xmlns:a16="http://schemas.microsoft.com/office/drawing/2014/main" id="{6F9F6F67-FFA0-436C-8FAB-7099C9BBDA58}"/>
              </a:ext>
            </a:extLst>
          </p:cNvPr>
          <p:cNvSpPr>
            <a:spLocks xmlns:a="http://schemas.openxmlformats.org/drawingml/2006/main" noGrp="1"/>
          </p:cNvSpPr>
          <p:nvPr/>
        </p:nvSpPr>
        <p:spPr>
          <a:xfrm xmlns:a="http://schemas.openxmlformats.org/drawingml/2006/main">
            <a:off x="609600" y="576262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86A"/>
                </a:solidFill>
                <a:latin typeface="DejaVu Sans"/>
                <a:ea typeface="DejaVu Sans"/>
                <a:cs typeface="DejaVu Sans"/>
              </a:defRPr>
            </a:defPPr>
          </a:lstStyle>
          <a:p xmlns:a="http://schemas.openxmlformats.org/drawingml/2006/main">
            <a:pPr>
              <a:defRPr sz="1500" b="0">
                <a:solidFill>
                  <a:srgbClr val="52686A"/>
                </a:solidFill>
                <a:latin typeface="DejaVu Sans"/>
                <a:ea typeface="DejaVu Sans"/>
                <a:cs typeface="DejaVu Sans"/>
              </a:defRPr>
            </a:pPr>
            <a:r>
              <a:rPr sz="1500" b="0">
                <a:solidFill>
                  <a:srgbClr val="52686A"/>
                </a:solidFill>
                <a:latin typeface="DejaVu Sans"/>
                <a:ea typeface="DejaVu Sans"/>
                <a:cs typeface="DejaVu Sans"/>
              </a:rPr>
              <a:t>Seluruh angka merupakan rencana pilot yang perlu dikonfirmasi.</a:t>
            </a:r>
          </a:p>
        </p:txBody>
      </p:sp>
    </p:spTree>
    <p:extLst>
      <p:ext uri="{BB962C8B-B14F-4D97-AF65-F5344CB8AC3E}">
        <p14:creationId xmlns:p14="http://schemas.microsoft.com/office/powerpoint/2010/main" val="989582635"/>
      </p:ext>
    </p:extLst>
  </p:cSld>
</p:sld>
</file>

<file path=ppt/slides/slide9.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EF90C2-8EBC-4481-9FEC-AAEBD82C851B}"/>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INVESTOR</a:t>
            </a:r>
          </a:p>
        </p:txBody>
      </p:sp>
      <p:sp>
        <p:nvSpPr>
          <p:cNvPr id="2" name="">
            <a:extLst xmlns:a="http://schemas.openxmlformats.org/drawingml/2006/main">
              <a:ext uri="{FF2B5EF4-FFF2-40B4-BE49-F238E27FC236}">
                <a16:creationId xmlns:a16="http://schemas.microsoft.com/office/drawing/2014/main" id="{E19657DD-AC36-4B08-8F8D-32DADCD7030A}"/>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Target pembuktian pilot</a:t>
            </a:r>
          </a:p>
        </p:txBody>
      </p:sp>
      <p:sp>
        <p:nvSpPr>
          <p:cNvPr id="3" name="">
            <a:extLst xmlns:a="http://schemas.openxmlformats.org/drawingml/2006/main">
              <a:ext uri="{FF2B5EF4-FFF2-40B4-BE49-F238E27FC236}">
                <a16:creationId xmlns:a16="http://schemas.microsoft.com/office/drawing/2014/main" id="{5C0354E2-86ED-4110-9738-59D128F61B70}"/>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465BFF6C-3660-41EA-A7E8-919C58E20237}"/>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09</a:t>
            </a:r>
          </a:p>
        </p:txBody>
      </p:sp>
      <p:graphicFrame>
        <p:nvGraphicFramePr>
          <p:cNvPr id="5" name="">
            <a:extLst xmlns:a="http://schemas.openxmlformats.org/drawingml/2006/main">
              <a:ext uri="{FF2B5EF4-FFF2-40B4-BE49-F238E27FC236}">
                <a16:creationId xmlns:a16="http://schemas.microsoft.com/office/drawing/2014/main" id="{B3335C35-94A7-4FD2-857F-D11F4491E96D}"/>
              </a:ext>
            </a:extLst>
          </p:cNvPr>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4191000"/>
                <a:gridCol w="2095500"/>
                <a:gridCol w="4686300"/>
              </a:tblGrid>
              <a:tr h="657225">
                <a:tc>
                  <a:txBody>
                    <a:bodyPr/>
                    <a:lstStyle/>
                    <a:p>
                      <a:r>
                        <a:rPr sz="1650" b="1">
                          <a:solidFill>
                            <a:srgbClr val="FFFFFF"/>
                          </a:solidFill>
                          <a:latin typeface="DejaVu Sans"/>
                          <a:ea typeface="DejaVu Sans"/>
                          <a:cs typeface="DejaVu Sans"/>
                        </a:rPr>
                        <a:t>Indikator</a:t>
                      </a:r>
                    </a:p>
                  </a:txBody>
                  <a:tcPr marL="91440" marR="91440" marT="45720" marB="45720">
                    <a:lnL w="9525">
                      <a:solidFill>
                        <a:srgbClr val="D1DAD5"/>
                      </a:solidFill>
                      <a:prstDash val="solid"/>
                    </a:lnL>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Target awal</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Dasar perbandingan</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r>
              <a:tr h="657225">
                <a:tc>
                  <a:txBody>
                    <a:bodyPr/>
                    <a:lstStyle/>
                    <a:p>
                      <a:r>
                        <a:rPr sz="1650" b="0">
                          <a:solidFill>
                            <a:srgbClr val="142E33"/>
                          </a:solidFill>
                          <a:latin typeface="DejaVu Sans"/>
                          <a:ea typeface="DejaVu Sans"/>
                          <a:cs typeface="DejaVu Sans"/>
                        </a:rPr>
                        <a:t>Waktu sampai siap bekerja</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Turun 20%</a:t>
                      </a:r>
                    </a:p>
                  </a:txBody>
                  <a:tcPr marL="91440" marR="91440" marT="45720" marB="45720">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Median hari, jabatan sama</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Pendampingan supervisor</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Turun 15%</a:t>
                      </a:r>
                    </a:p>
                  </a:txBody>
                  <a:tcPr marL="91440" marR="91440" marT="45720" marB="45720">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Jam per pekerja baru</a:t>
                      </a:r>
                    </a:p>
                  </a:txBody>
                  <a:tcPr marL="91440" marR="91440" marT="45720" marB="45720">
                    <a:lnR w="9525">
                      <a:solidFill>
                        <a:srgbClr val="D1DAD5"/>
                      </a:solidFill>
                      <a:prstDash val="solid"/>
                    </a:lnR>
                    <a:lnB w="9525">
                      <a:solidFill>
                        <a:srgbClr val="D1DAD5"/>
                      </a:solidFill>
                      <a:prstDash val="solid"/>
                    </a:lnB>
                    <a:solidFill>
                      <a:srgbClr val="EAF0E9"/>
                    </a:solidFill>
                  </a:tcPr>
                </a:tc>
              </a:tr>
              <a:tr h="657225">
                <a:tc>
                  <a:txBody>
                    <a:bodyPr/>
                    <a:lstStyle/>
                    <a:p>
                      <a:r>
                        <a:rPr sz="1650" b="0">
                          <a:solidFill>
                            <a:srgbClr val="142E33"/>
                          </a:solidFill>
                          <a:latin typeface="DejaVu Sans"/>
                          <a:ea typeface="DejaVu Sans"/>
                          <a:cs typeface="DejaVu Sans"/>
                        </a:rPr>
                        <a:t>Onboarding tepat tenggat</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≥85%</a:t>
                      </a:r>
                    </a:p>
                  </a:txBody>
                  <a:tcPr marL="91440" marR="91440" marT="45720" marB="45720">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Pekerja yang jatuh tempo</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SOP diajukan tepat waktu</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≥90%</a:t>
                      </a:r>
                    </a:p>
                  </a:txBody>
                  <a:tcPr marL="91440" marR="91440" marT="45720" marB="45720">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Instance wajib jatuh tempo</a:t>
                      </a:r>
                    </a:p>
                  </a:txBody>
                  <a:tcPr marL="91440" marR="91440" marT="45720" marB="45720">
                    <a:lnR w="9525">
                      <a:solidFill>
                        <a:srgbClr val="D1DAD5"/>
                      </a:solidFill>
                      <a:prstDash val="solid"/>
                    </a:lnR>
                    <a:lnB w="9525">
                      <a:solidFill>
                        <a:srgbClr val="D1DAD5"/>
                      </a:solidFill>
                      <a:prstDash val="solid"/>
                    </a:lnB>
                    <a:solidFill>
                      <a:srgbClr val="EAF0E9"/>
                    </a:solidFill>
                  </a:tcPr>
                </a:tc>
              </a:tr>
            </a:tbl>
          </a:graphicData>
        </a:graphic>
      </p:graphicFrame>
      <p:sp>
        <p:nvSpPr>
          <p:cNvPr id="6" name="">
            <a:extLst xmlns:a="http://schemas.openxmlformats.org/drawingml/2006/main">
              <a:ext uri="{FF2B5EF4-FFF2-40B4-BE49-F238E27FC236}">
                <a16:creationId xmlns:a16="http://schemas.microsoft.com/office/drawing/2014/main" id="{54579A36-B2D0-479B-A187-BA4EDE0FEBE3}"/>
              </a:ext>
            </a:extLst>
          </p:cNvPr>
          <p:cNvSpPr>
            <a:spLocks xmlns:a="http://schemas.openxmlformats.org/drawingml/2006/main" noGrp="1"/>
          </p:cNvSpPr>
          <p:nvPr/>
        </p:nvSpPr>
        <p:spPr>
          <a:xfrm xmlns:a="http://schemas.openxmlformats.org/drawingml/2006/main">
            <a:off x="609600" y="56388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86A"/>
                </a:solidFill>
                <a:latin typeface="DejaVu Sans"/>
                <a:ea typeface="DejaVu Sans"/>
                <a:cs typeface="DejaVu Sans"/>
              </a:defRPr>
            </a:defPPr>
          </a:lstStyle>
          <a:p xmlns:a="http://schemas.openxmlformats.org/drawingml/2006/main">
            <a:pPr>
              <a:defRPr sz="1500" b="0">
                <a:solidFill>
                  <a:srgbClr val="52686A"/>
                </a:solidFill>
                <a:latin typeface="DejaVu Sans"/>
                <a:ea typeface="DejaVu Sans"/>
                <a:cs typeface="DejaVu Sans"/>
              </a:defRPr>
            </a:pPr>
            <a:r>
              <a:rPr sz="1500" b="0">
                <a:solidFill>
                  <a:srgbClr val="52686A"/>
                </a:solidFill>
                <a:latin typeface="DejaVu Sans"/>
                <a:ea typeface="DejaVu Sans"/>
                <a:cs typeface="DejaVu Sans"/>
              </a:rPr>
              <a:t>Target, bukan hasil aktual. Kesalahan operasional tidak boleh memburuk.</a:t>
            </a:r>
          </a:p>
        </p:txBody>
      </p:sp>
    </p:spTree>
    <p:extLst>
      <p:ext uri="{BB962C8B-B14F-4D97-AF65-F5344CB8AC3E}">
        <p14:creationId xmlns:p14="http://schemas.microsoft.com/office/powerpoint/2010/main" val="1148283404"/>
      </p:ext>
    </p:extLst>
  </p:cSld>
</p:sld>
</file>

<file path=ppt/slides/slide10.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37667D-0DAB-4FC6-8D8F-B9B1BBC68CC7}"/>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INVESTOR</a:t>
            </a:r>
          </a:p>
        </p:txBody>
      </p:sp>
      <p:sp>
        <p:nvSpPr>
          <p:cNvPr id="2" name="">
            <a:extLst xmlns:a="http://schemas.openxmlformats.org/drawingml/2006/main">
              <a:ext uri="{FF2B5EF4-FFF2-40B4-BE49-F238E27FC236}">
                <a16:creationId xmlns:a16="http://schemas.microsoft.com/office/drawing/2014/main" id="{5BB52DC9-05E4-46E2-96FF-4CD8592B319D}"/>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Hipotesis model bisnis</a:t>
            </a:r>
          </a:p>
        </p:txBody>
      </p:sp>
      <p:sp>
        <p:nvSpPr>
          <p:cNvPr id="3" name="">
            <a:extLst xmlns:a="http://schemas.openxmlformats.org/drawingml/2006/main">
              <a:ext uri="{FF2B5EF4-FFF2-40B4-BE49-F238E27FC236}">
                <a16:creationId xmlns:a16="http://schemas.microsoft.com/office/drawing/2014/main" id="{680E9B0D-1650-4BD1-95FF-6BC973735A30}"/>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CBCF61FA-8B04-4908-B1B1-3DC8F4C20101}"/>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10</a:t>
            </a:r>
          </a:p>
        </p:txBody>
      </p:sp>
      <p:sp>
        <p:nvSpPr>
          <p:cNvPr id="5" name="">
            <a:extLst xmlns:a="http://schemas.openxmlformats.org/drawingml/2006/main">
              <a:ext uri="{FF2B5EF4-FFF2-40B4-BE49-F238E27FC236}">
                <a16:creationId xmlns:a16="http://schemas.microsoft.com/office/drawing/2014/main" id="{2D0A14F2-55FF-44E0-9B37-175F6ABE1D64}"/>
              </a:ext>
            </a:extLst>
          </p:cNvPr>
          <p:cNvSpPr>
            <a:spLocks xmlns:a="http://schemas.openxmlformats.org/drawingml/2006/main" noGrp="1"/>
          </p:cNvSpPr>
          <p:nvPr/>
        </p:nvSpPr>
        <p:spPr>
          <a:xfrm xmlns:a="http://schemas.openxmlformats.org/drawingml/2006/main">
            <a:off x="609600" y="2181225"/>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07F73"/>
                </a:solidFill>
                <a:latin typeface="DejaVu Sans"/>
                <a:ea typeface="DejaVu Sans"/>
                <a:cs typeface="DejaVu Sans"/>
              </a:defRPr>
            </a:defPPr>
          </a:lstStyle>
          <a:p xmlns:a="http://schemas.openxmlformats.org/drawingml/2006/main">
            <a:pPr>
              <a:defRPr sz="2250" b="1">
                <a:solidFill>
                  <a:srgbClr val="007F73"/>
                </a:solidFill>
                <a:latin typeface="DejaVu Sans"/>
                <a:ea typeface="DejaVu Sans"/>
                <a:cs typeface="DejaVu Sans"/>
              </a:defRPr>
            </a:pPr>
            <a:r>
              <a:rPr sz="2250" b="1">
                <a:solidFill>
                  <a:srgbClr val="007F73"/>
                </a:solidFill>
                <a:latin typeface="DejaVu Sans"/>
                <a:ea typeface="DejaVu Sans"/>
                <a:cs typeface="DejaVu Sans"/>
              </a:rPr>
              <a:t>Pendapatan</a:t>
            </a:r>
          </a:p>
        </p:txBody>
      </p:sp>
      <p:sp>
        <p:nvSpPr>
          <p:cNvPr id="6" name="">
            <a:extLst xmlns:a="http://schemas.openxmlformats.org/drawingml/2006/main">
              <a:ext uri="{FF2B5EF4-FFF2-40B4-BE49-F238E27FC236}">
                <a16:creationId xmlns:a16="http://schemas.microsoft.com/office/drawing/2014/main" id="{CAC4AA2D-895B-4C57-8E01-E45AC4846062}"/>
              </a:ext>
            </a:extLst>
          </p:cNvPr>
          <p:cNvSpPr>
            <a:spLocks xmlns:a="http://schemas.openxmlformats.org/drawingml/2006/main" noGrp="1"/>
          </p:cNvSpPr>
          <p:nvPr/>
        </p:nvSpPr>
        <p:spPr>
          <a:xfrm xmlns:a="http://schemas.openxmlformats.org/drawingml/2006/main">
            <a:off x="609600" y="2933700"/>
            <a:ext cx="5048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E33"/>
                </a:solidFill>
                <a:latin typeface="DejaVu Sans"/>
                <a:ea typeface="DejaVu Sans"/>
                <a:cs typeface="DejaVu Sans"/>
              </a:defRPr>
            </a:defPPr>
          </a:lstStyle>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Langganan per perusahaan</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Paket cabang dan staf aktif</a:t>
            </a:r>
          </a:p>
          <a:p xmlns:a="http://schemas.openxmlformats.org/drawingml/2006/main">
            <a:r>
              <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Jasa onboarding dan produksi materi sebagai biaya terpisah.</a:t>
            </a:r>
          </a:p>
        </p:txBody>
      </p:sp>
      <p:sp>
        <p:nvSpPr>
          <p:cNvPr id="7" name="">
            <a:extLst xmlns:a="http://schemas.openxmlformats.org/drawingml/2006/main">
              <a:ext uri="{FF2B5EF4-FFF2-40B4-BE49-F238E27FC236}">
                <a16:creationId xmlns:a16="http://schemas.microsoft.com/office/drawing/2014/main" id="{05ACCB02-7ED2-4775-B403-934AB0C2ABD7}"/>
              </a:ext>
            </a:extLst>
          </p:cNvPr>
          <p:cNvSpPr>
            <a:spLocks xmlns:a="http://schemas.openxmlformats.org/drawingml/2006/main" noGrp="1"/>
          </p:cNvSpPr>
          <p:nvPr/>
        </p:nvSpPr>
        <p:spPr>
          <a:xfrm xmlns:a="http://schemas.openxmlformats.org/drawingml/2006/main">
            <a:off x="6515100" y="2181225"/>
            <a:ext cx="5048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007F73"/>
                </a:solidFill>
                <a:latin typeface="DejaVu Sans"/>
                <a:ea typeface="DejaVu Sans"/>
                <a:cs typeface="DejaVu Sans"/>
              </a:defRPr>
            </a:defPPr>
          </a:lstStyle>
          <a:p xmlns:a="http://schemas.openxmlformats.org/drawingml/2006/main">
            <a:pPr>
              <a:defRPr sz="2250" b="1">
                <a:solidFill>
                  <a:srgbClr val="007F73"/>
                </a:solidFill>
                <a:latin typeface="DejaVu Sans"/>
                <a:ea typeface="DejaVu Sans"/>
                <a:cs typeface="DejaVu Sans"/>
              </a:defRPr>
            </a:pPr>
            <a:r>
              <a:rPr sz="2250" b="1">
                <a:solidFill>
                  <a:srgbClr val="007F73"/>
                </a:solidFill>
                <a:latin typeface="DejaVu Sans"/>
                <a:ea typeface="DejaVu Sans"/>
                <a:cs typeface="DejaVu Sans"/>
              </a:rPr>
              <a:t>Struktur biaya</a:t>
            </a:r>
          </a:p>
        </p:txBody>
      </p:sp>
      <p:sp>
        <p:nvSpPr>
          <p:cNvPr id="8" name="">
            <a:extLst xmlns:a="http://schemas.openxmlformats.org/drawingml/2006/main">
              <a:ext uri="{FF2B5EF4-FFF2-40B4-BE49-F238E27FC236}">
                <a16:creationId xmlns:a16="http://schemas.microsoft.com/office/drawing/2014/main" id="{F5262D76-B471-46B3-BEB7-F5CD929199AD}"/>
              </a:ext>
            </a:extLst>
          </p:cNvPr>
          <p:cNvSpPr>
            <a:spLocks xmlns:a="http://schemas.openxmlformats.org/drawingml/2006/main" noGrp="1"/>
          </p:cNvSpPr>
          <p:nvPr/>
        </p:nvSpPr>
        <p:spPr>
          <a:xfrm xmlns:a="http://schemas.openxmlformats.org/drawingml/2006/main">
            <a:off x="6515100" y="2933700"/>
            <a:ext cx="5048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42E33"/>
                </a:solidFill>
                <a:latin typeface="DejaVu Sans"/>
                <a:ea typeface="DejaVu Sans"/>
                <a:cs typeface="DejaVu Sans"/>
              </a:defRPr>
            </a:defPPr>
          </a:lstStyle>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Infrastruktur dan backup</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Penyimpanan serta transfer video</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Dukungan dan produksi konten</a:t>
            </a:r>
          </a:p>
          <a:p xmlns:a="http://schemas.openxmlformats.org/drawingml/2006/main">
            <a:r>
              <a:t/>
            </a:r>
          </a:p>
          <a:p xmlns:a="http://schemas.openxmlformats.org/drawingml/2006/main">
            <a:pPr>
              <a:defRPr sz="2025" b="0">
                <a:solidFill>
                  <a:srgbClr val="142E33"/>
                </a:solidFill>
                <a:latin typeface="DejaVu Sans"/>
                <a:ea typeface="DejaVu Sans"/>
                <a:cs typeface="DejaVu Sans"/>
              </a:defRPr>
            </a:pPr>
            <a:r>
              <a:rPr sz="2025" b="0">
                <a:solidFill>
                  <a:srgbClr val="142E33"/>
                </a:solidFill>
                <a:latin typeface="DejaVu Sans"/>
                <a:ea typeface="DejaVu Sans"/>
                <a:cs typeface="DejaVu Sans"/>
              </a:rPr>
              <a:t>Harga belum ditetapkan.</a:t>
            </a:r>
          </a:p>
        </p:txBody>
      </p:sp>
    </p:spTree>
    <p:extLst>
      <p:ext uri="{BB962C8B-B14F-4D97-AF65-F5344CB8AC3E}">
        <p14:creationId xmlns:p14="http://schemas.microsoft.com/office/powerpoint/2010/main" val="918850704"/>
      </p:ext>
    </p:extLst>
  </p:cSld>
</p:sld>
</file>

<file path=ppt/slides/slide1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BC4E57D-0BAA-4BA2-A8BE-AFE66234D754}"/>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INVESTOR</a:t>
            </a:r>
          </a:p>
        </p:txBody>
      </p:sp>
      <p:sp>
        <p:nvSpPr>
          <p:cNvPr id="2" name="">
            <a:extLst xmlns:a="http://schemas.openxmlformats.org/drawingml/2006/main">
              <a:ext uri="{FF2B5EF4-FFF2-40B4-BE49-F238E27FC236}">
                <a16:creationId xmlns:a16="http://schemas.microsoft.com/office/drawing/2014/main" id="{34C301ED-1C4E-4806-B395-69F49E0B4051}"/>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Rencana memperoleh pelanggan awal</a:t>
            </a:r>
          </a:p>
        </p:txBody>
      </p:sp>
      <p:sp>
        <p:nvSpPr>
          <p:cNvPr id="3" name="">
            <a:extLst xmlns:a="http://schemas.openxmlformats.org/drawingml/2006/main">
              <a:ext uri="{FF2B5EF4-FFF2-40B4-BE49-F238E27FC236}">
                <a16:creationId xmlns:a16="http://schemas.microsoft.com/office/drawing/2014/main" id="{39CB4BED-9444-487D-8D10-69EDC122A117}"/>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DFCACAE7-6936-4F63-8BB4-BD896DBE9352}"/>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11</a:t>
            </a:r>
          </a:p>
        </p:txBody>
      </p:sp>
      <p:sp>
        <p:nvSpPr>
          <p:cNvPr id="5" name="">
            <a:extLst xmlns:a="http://schemas.openxmlformats.org/drawingml/2006/main">
              <a:ext uri="{FF2B5EF4-FFF2-40B4-BE49-F238E27FC236}">
                <a16:creationId xmlns:a16="http://schemas.microsoft.com/office/drawing/2014/main" id="{AD6FED3A-DF3C-4DDF-9B50-40E5235E3C6F}"/>
              </a:ext>
            </a:extLst>
          </p:cNvPr>
          <p:cNvSpPr>
            <a:spLocks xmlns:a="http://schemas.openxmlformats.org/drawingml/2006/main" noGrp="1"/>
          </p:cNvSpPr>
          <p:nvPr/>
        </p:nvSpPr>
        <p:spPr>
          <a:xfrm xmlns:a="http://schemas.openxmlformats.org/drawingml/2006/main">
            <a:off x="609600" y="21431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AC2C35CE-827B-4B53-A519-DD18AD1CB8FE}"/>
              </a:ext>
            </a:extLst>
          </p:cNvPr>
          <p:cNvSpPr>
            <a:spLocks xmlns:a="http://schemas.openxmlformats.org/drawingml/2006/main" noGrp="1"/>
          </p:cNvSpPr>
          <p:nvPr/>
        </p:nvSpPr>
        <p:spPr>
          <a:xfrm xmlns:a="http://schemas.openxmlformats.org/drawingml/2006/main">
            <a:off x="1428750" y="21431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Perusahaan pilot sebagai mitra desain</a:t>
            </a:r>
          </a:p>
        </p:txBody>
      </p:sp>
      <p:sp>
        <p:nvSpPr>
          <p:cNvPr id="7" name="">
            <a:extLst xmlns:a="http://schemas.openxmlformats.org/drawingml/2006/main">
              <a:ext uri="{FF2B5EF4-FFF2-40B4-BE49-F238E27FC236}">
                <a16:creationId xmlns:a16="http://schemas.microsoft.com/office/drawing/2014/main" id="{16F8EC47-3823-4411-934E-A38DC9FB053E}"/>
              </a:ext>
            </a:extLst>
          </p:cNvPr>
          <p:cNvSpPr>
            <a:spLocks xmlns:a="http://schemas.openxmlformats.org/drawingml/2006/main" noGrp="1"/>
          </p:cNvSpPr>
          <p:nvPr/>
        </p:nvSpPr>
        <p:spPr>
          <a:xfrm xmlns:a="http://schemas.openxmlformats.org/drawingml/2006/main">
            <a:off x="1428750" y="26003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Validasi proses nyata bersama HR, operasional, dan supervisor.</a:t>
            </a:r>
          </a:p>
        </p:txBody>
      </p:sp>
      <p:sp>
        <p:nvSpPr>
          <p:cNvPr id="8" name="">
            <a:extLst xmlns:a="http://schemas.openxmlformats.org/drawingml/2006/main">
              <a:ext uri="{FF2B5EF4-FFF2-40B4-BE49-F238E27FC236}">
                <a16:creationId xmlns:a16="http://schemas.microsoft.com/office/drawing/2014/main" id="{0601530B-67F7-4883-BB20-7AD407435D93}"/>
              </a:ext>
            </a:extLst>
          </p:cNvPr>
          <p:cNvSpPr>
            <a:spLocks xmlns:a="http://schemas.openxmlformats.org/drawingml/2006/main" noGrp="1"/>
          </p:cNvSpPr>
          <p:nvPr/>
        </p:nvSpPr>
        <p:spPr>
          <a:xfrm xmlns:a="http://schemas.openxmlformats.org/drawingml/2006/main">
            <a:off x="60960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B549F9B1-0D50-4560-A73D-BC139017C2F3}"/>
              </a:ext>
            </a:extLst>
          </p:cNvPr>
          <p:cNvSpPr>
            <a:spLocks xmlns:a="http://schemas.openxmlformats.org/drawingml/2006/main" noGrp="1"/>
          </p:cNvSpPr>
          <p:nvPr/>
        </p:nvSpPr>
        <p:spPr>
          <a:xfrm xmlns:a="http://schemas.openxmlformats.org/drawingml/2006/main">
            <a:off x="1428750" y="34004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Evaluasi hasil dan kemauan membayar</a:t>
            </a:r>
          </a:p>
        </p:txBody>
      </p:sp>
      <p:sp>
        <p:nvSpPr>
          <p:cNvPr id="10" name="">
            <a:extLst xmlns:a="http://schemas.openxmlformats.org/drawingml/2006/main">
              <a:ext uri="{FF2B5EF4-FFF2-40B4-BE49-F238E27FC236}">
                <a16:creationId xmlns:a16="http://schemas.microsoft.com/office/drawing/2014/main" id="{BBE1F243-8833-4A21-A02E-065C3454CB38}"/>
              </a:ext>
            </a:extLst>
          </p:cNvPr>
          <p:cNvSpPr>
            <a:spLocks xmlns:a="http://schemas.openxmlformats.org/drawingml/2006/main" noGrp="1"/>
          </p:cNvSpPr>
          <p:nvPr/>
        </p:nvSpPr>
        <p:spPr>
          <a:xfrm xmlns:a="http://schemas.openxmlformats.org/drawingml/2006/main">
            <a:off x="1428750" y="38576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Bandingkan baseline dan diskusikan paket cabang serta staf aktif.</a:t>
            </a:r>
          </a:p>
        </p:txBody>
      </p:sp>
      <p:sp>
        <p:nvSpPr>
          <p:cNvPr id="11" name="">
            <a:extLst xmlns:a="http://schemas.openxmlformats.org/drawingml/2006/main">
              <a:ext uri="{FF2B5EF4-FFF2-40B4-BE49-F238E27FC236}">
                <a16:creationId xmlns:a16="http://schemas.microsoft.com/office/drawing/2014/main" id="{AF309B51-6681-4B12-BB37-357126B07C5F}"/>
              </a:ext>
            </a:extLst>
          </p:cNvPr>
          <p:cNvSpPr>
            <a:spLocks xmlns:a="http://schemas.openxmlformats.org/drawingml/2006/main" noGrp="1"/>
          </p:cNvSpPr>
          <p:nvPr/>
        </p:nvSpPr>
        <p:spPr>
          <a:xfrm xmlns:a="http://schemas.openxmlformats.org/drawingml/2006/main">
            <a:off x="609600" y="46577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CF298B1B-0C10-43BB-980B-7C23507C0985}"/>
              </a:ext>
            </a:extLst>
          </p:cNvPr>
          <p:cNvSpPr>
            <a:spLocks xmlns:a="http://schemas.openxmlformats.org/drawingml/2006/main" noGrp="1"/>
          </p:cNvSpPr>
          <p:nvPr/>
        </p:nvSpPr>
        <p:spPr>
          <a:xfrm xmlns:a="http://schemas.openxmlformats.org/drawingml/2006/main">
            <a:off x="1428750" y="46577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Perluasan setelah pilot berhasil</a:t>
            </a:r>
          </a:p>
        </p:txBody>
      </p:sp>
      <p:sp>
        <p:nvSpPr>
          <p:cNvPr id="13" name="">
            <a:extLst xmlns:a="http://schemas.openxmlformats.org/drawingml/2006/main">
              <a:ext uri="{FF2B5EF4-FFF2-40B4-BE49-F238E27FC236}">
                <a16:creationId xmlns:a16="http://schemas.microsoft.com/office/drawing/2014/main" id="{793E84B2-8D08-4C97-91C7-86933FFDD153}"/>
              </a:ext>
            </a:extLst>
          </p:cNvPr>
          <p:cNvSpPr>
            <a:spLocks xmlns:a="http://schemas.openxmlformats.org/drawingml/2006/main" noGrp="1"/>
          </p:cNvSpPr>
          <p:nvPr/>
        </p:nvSpPr>
        <p:spPr>
          <a:xfrm xmlns:a="http://schemas.openxmlformats.org/drawingml/2006/main">
            <a:off x="1428750" y="51149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Tambah cabang, lalu uji industri lain menggunakan struktur proses yang sama.</a:t>
            </a:r>
          </a:p>
        </p:txBody>
      </p:sp>
    </p:spTree>
    <p:extLst>
      <p:ext uri="{BB962C8B-B14F-4D97-AF65-F5344CB8AC3E}">
        <p14:creationId xmlns:p14="http://schemas.microsoft.com/office/powerpoint/2010/main" val="2084953372"/>
      </p:ext>
    </p:extLst>
  </p:cSld>
</p:sld>
</file>

<file path=ppt/slides/slide1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4556181-41E5-4B0F-A9E9-E14C1E1DF607}"/>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INVESTOR</a:t>
            </a:r>
          </a:p>
        </p:txBody>
      </p:sp>
      <p:sp>
        <p:nvSpPr>
          <p:cNvPr id="2" name="">
            <a:extLst xmlns:a="http://schemas.openxmlformats.org/drawingml/2006/main">
              <a:ext uri="{FF2B5EF4-FFF2-40B4-BE49-F238E27FC236}">
                <a16:creationId xmlns:a16="http://schemas.microsoft.com/office/drawing/2014/main" id="{AD0CFDBF-ABD8-4774-9380-52032A703050}"/>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Risiko bisnis dan respons</a:t>
            </a:r>
          </a:p>
        </p:txBody>
      </p:sp>
      <p:sp>
        <p:nvSpPr>
          <p:cNvPr id="3" name="">
            <a:extLst xmlns:a="http://schemas.openxmlformats.org/drawingml/2006/main">
              <a:ext uri="{FF2B5EF4-FFF2-40B4-BE49-F238E27FC236}">
                <a16:creationId xmlns:a16="http://schemas.microsoft.com/office/drawing/2014/main" id="{07B4BE2F-937C-491B-AF40-124068A2E630}"/>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013EFDE9-8936-40B0-9102-B228CECF30FC}"/>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12</a:t>
            </a:r>
          </a:p>
        </p:txBody>
      </p:sp>
      <p:graphicFrame>
        <p:nvGraphicFramePr>
          <p:cNvPr id="5" name="">
            <a:extLst xmlns:a="http://schemas.openxmlformats.org/drawingml/2006/main">
              <a:ext uri="{FF2B5EF4-FFF2-40B4-BE49-F238E27FC236}">
                <a16:creationId xmlns:a16="http://schemas.microsoft.com/office/drawing/2014/main" id="{6CD2D95D-8D39-4B08-A481-E5771DF70600}"/>
              </a:ext>
            </a:extLst>
          </p:cNvPr>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4286250"/>
                <a:gridCol w="6686550"/>
              </a:tblGrid>
              <a:tr h="657225">
                <a:tc>
                  <a:txBody>
                    <a:bodyPr/>
                    <a:lstStyle/>
                    <a:p>
                      <a:r>
                        <a:rPr sz="1650" b="1">
                          <a:solidFill>
                            <a:srgbClr val="FFFFFF"/>
                          </a:solidFill>
                          <a:latin typeface="DejaVu Sans"/>
                          <a:ea typeface="DejaVu Sans"/>
                          <a:cs typeface="DejaVu Sans"/>
                        </a:rPr>
                        <a:t>Risiko</a:t>
                      </a:r>
                    </a:p>
                  </a:txBody>
                  <a:tcPr marL="91440" marR="91440" marT="45720" marB="45720">
                    <a:lnL w="9525">
                      <a:solidFill>
                        <a:srgbClr val="D1DAD5"/>
                      </a:solidFill>
                      <a:prstDash val="solid"/>
                    </a:lnL>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Respons produk dan pilot</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r>
              <a:tr h="657225">
                <a:tc>
                  <a:txBody>
                    <a:bodyPr/>
                    <a:lstStyle/>
                    <a:p>
                      <a:r>
                        <a:rPr sz="1650" b="0">
                          <a:solidFill>
                            <a:srgbClr val="142E33"/>
                          </a:solidFill>
                          <a:latin typeface="DejaVu Sans"/>
                          <a:ea typeface="DejaVu Sans"/>
                          <a:cs typeface="DejaVu Sans"/>
                        </a:rPr>
                        <a:t>Konten tidak relevan atau usang</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Pemilik SOP, review materi, dan versioning</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Beban review supervisor tinggi</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Antrean review dan pembagian assessor</a:t>
                      </a:r>
                    </a:p>
                  </a:txBody>
                  <a:tcPr marL="91440" marR="91440" marT="45720" marB="45720">
                    <a:lnR w="9525">
                      <a:solidFill>
                        <a:srgbClr val="D1DAD5"/>
                      </a:solidFill>
                      <a:prstDash val="solid"/>
                    </a:lnR>
                    <a:lnB w="9525">
                      <a:solidFill>
                        <a:srgbClr val="D1DAD5"/>
                      </a:solidFill>
                      <a:prstDash val="solid"/>
                    </a:lnB>
                    <a:solidFill>
                      <a:srgbClr val="EAF0E9"/>
                    </a:solidFill>
                  </a:tcPr>
                </a:tc>
              </a:tr>
              <a:tr h="657225">
                <a:tc>
                  <a:txBody>
                    <a:bodyPr/>
                    <a:lstStyle/>
                    <a:p>
                      <a:r>
                        <a:rPr sz="1650" b="0">
                          <a:solidFill>
                            <a:srgbClr val="142E33"/>
                          </a:solidFill>
                          <a:latin typeface="DejaVu Sans"/>
                          <a:ea typeface="DejaVu Sans"/>
                          <a:cs typeface="DejaVu Sans"/>
                        </a:rPr>
                        <a:t>Staf hanya menekan selesai</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Kuis, observasi praktik, dan sampling</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Dampak rekrutmen belum terbukti</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Ukur kesiapan dan biaya pelatihan secara terpisah</a:t>
                      </a:r>
                    </a:p>
                  </a:txBody>
                  <a:tcPr marL="91440" marR="91440" marT="45720" marB="45720">
                    <a:lnR w="9525">
                      <a:solidFill>
                        <a:srgbClr val="D1DAD5"/>
                      </a:solidFill>
                      <a:prstDash val="solid"/>
                    </a:lnR>
                    <a:lnB w="9525">
                      <a:solidFill>
                        <a:srgbClr val="D1DAD5"/>
                      </a:solidFill>
                      <a:prstDash val="solid"/>
                    </a:lnB>
                    <a:solidFill>
                      <a:srgbClr val="EAF0E9"/>
                    </a:solidFill>
                  </a:tcPr>
                </a:tc>
              </a:tr>
            </a:tbl>
          </a:graphicData>
        </a:graphic>
      </p:graphicFrame>
    </p:spTree>
    <p:extLst>
      <p:ext uri="{BB962C8B-B14F-4D97-AF65-F5344CB8AC3E}">
        <p14:creationId xmlns:p14="http://schemas.microsoft.com/office/powerpoint/2010/main" val="843945457"/>
      </p:ext>
    </p:extLst>
  </p:cSld>
</p:sld>
</file>

<file path=ppt/slides/slide13.xml><?xml version="1.0" encoding="utf-8"?>
<p:sld xmlns:p="http://schemas.openxmlformats.org/presentationml/2006/main">
  <p:cSld>
    <p:bg>
      <p:bgPr>
        <a:solidFill xmlns:a="http://schemas.openxmlformats.org/drawingml/2006/main">
          <a:srgbClr val="102D3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E288BD-3A90-4880-8CF7-21E2507E6558}"/>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D4E8E0"/>
                </a:solidFill>
                <a:latin typeface="DejaVu Sans"/>
                <a:ea typeface="DejaVu Sans"/>
                <a:cs typeface="DejaVu Sans"/>
              </a:defRPr>
            </a:defPPr>
          </a:lstStyle>
          <a:p xmlns:a="http://schemas.openxmlformats.org/drawingml/2006/main">
            <a:pPr>
              <a:defRPr sz="1125" b="1">
                <a:solidFill>
                  <a:srgbClr val="D4E8E0"/>
                </a:solidFill>
                <a:latin typeface="DejaVu Sans"/>
                <a:ea typeface="DejaVu Sans"/>
                <a:cs typeface="DejaVu Sans"/>
              </a:defRPr>
            </a:pPr>
            <a:r>
              <a:rPr sz="1125" b="1">
                <a:solidFill>
                  <a:srgbClr val="D4E8E0"/>
                </a:solidFill>
                <a:latin typeface="DejaVu Sans"/>
                <a:ea typeface="DejaVu Sans"/>
                <a:cs typeface="DejaVu Sans"/>
              </a:rPr>
              <a:t>INVESTOR</a:t>
            </a:r>
          </a:p>
        </p:txBody>
      </p:sp>
      <p:sp>
        <p:nvSpPr>
          <p:cNvPr id="2" name="">
            <a:extLst xmlns:a="http://schemas.openxmlformats.org/drawingml/2006/main">
              <a:ext uri="{FF2B5EF4-FFF2-40B4-BE49-F238E27FC236}">
                <a16:creationId xmlns:a16="http://schemas.microsoft.com/office/drawing/2014/main" id="{AA315B8C-9989-48F6-9DCA-05EF3BE7D720}"/>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DejaVu Sans"/>
                <a:ea typeface="DejaVu Sans"/>
                <a:cs typeface="DejaVu Sans"/>
              </a:defRPr>
            </a:defPPr>
          </a:lstStyle>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Milestone untuk keputusan investasi</a:t>
            </a:r>
          </a:p>
        </p:txBody>
      </p:sp>
      <p:sp>
        <p:nvSpPr>
          <p:cNvPr id="3" name="">
            <a:extLst xmlns:a="http://schemas.openxmlformats.org/drawingml/2006/main">
              <a:ext uri="{FF2B5EF4-FFF2-40B4-BE49-F238E27FC236}">
                <a16:creationId xmlns:a16="http://schemas.microsoft.com/office/drawing/2014/main" id="{0B1D45F4-28F9-4F24-9AAE-E587C6662F8B}"/>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4E8E0"/>
                </a:solidFill>
                <a:latin typeface="DejaVu Sans"/>
                <a:ea typeface="DejaVu Sans"/>
                <a:cs typeface="DejaVu Sans"/>
              </a:defRPr>
            </a:defPPr>
          </a:lstStyle>
          <a:p xmlns:a="http://schemas.openxmlformats.org/drawingml/2006/main">
            <a:pPr>
              <a:defRPr sz="975" b="0">
                <a:solidFill>
                  <a:srgbClr val="D4E8E0"/>
                </a:solidFill>
                <a:latin typeface="DejaVu Sans"/>
                <a:ea typeface="DejaVu Sans"/>
                <a:cs typeface="DejaVu Sans"/>
              </a:defRPr>
            </a:pPr>
            <a:r>
              <a:rPr sz="975" b="0">
                <a:solidFill>
                  <a:srgbClr val="D4E8E0"/>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B8D16055-EF8F-482F-8F59-89C2C3B87607}"/>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4E8E0"/>
                </a:solidFill>
                <a:latin typeface="DejaVu Sans"/>
                <a:ea typeface="DejaVu Sans"/>
                <a:cs typeface="DejaVu Sans"/>
              </a:defRPr>
            </a:defPPr>
          </a:lstStyle>
          <a:p xmlns:a="http://schemas.openxmlformats.org/drawingml/2006/main">
            <a:pPr>
              <a:defRPr sz="975" b="0">
                <a:solidFill>
                  <a:srgbClr val="D4E8E0"/>
                </a:solidFill>
                <a:latin typeface="DejaVu Sans"/>
                <a:ea typeface="DejaVu Sans"/>
                <a:cs typeface="DejaVu Sans"/>
              </a:defRPr>
            </a:pPr>
            <a:r>
              <a:rPr sz="975" b="0">
                <a:solidFill>
                  <a:srgbClr val="D4E8E0"/>
                </a:solidFill>
                <a:latin typeface="DejaVu Sans"/>
                <a:ea typeface="DejaVu Sans"/>
                <a:cs typeface="DejaVu Sans"/>
              </a:rPr>
              <a:t>13</a:t>
            </a:r>
          </a:p>
        </p:txBody>
      </p:sp>
      <p:sp>
        <p:nvSpPr>
          <p:cNvPr id="5" name="">
            <a:extLst xmlns:a="http://schemas.openxmlformats.org/drawingml/2006/main">
              <a:ext uri="{FF2B5EF4-FFF2-40B4-BE49-F238E27FC236}">
                <a16:creationId xmlns:a16="http://schemas.microsoft.com/office/drawing/2014/main" id="{E8B43688-4CDE-48D6-8D5C-5C80F629C60C}"/>
              </a:ext>
            </a:extLst>
          </p:cNvPr>
          <p:cNvSpPr>
            <a:spLocks xmlns:a="http://schemas.openxmlformats.org/drawingml/2006/main" noGrp="1"/>
          </p:cNvSpPr>
          <p:nvPr/>
        </p:nvSpPr>
        <p:spPr>
          <a:xfrm xmlns:a="http://schemas.openxmlformats.org/drawingml/2006/main">
            <a:off x="609600" y="2238375"/>
            <a:ext cx="10953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75" b="1">
                <a:solidFill>
                  <a:srgbClr val="FFFFFF"/>
                </a:solidFill>
                <a:latin typeface="DejaVu Sans"/>
                <a:ea typeface="DejaVu Sans"/>
                <a:cs typeface="DejaVu Sans"/>
              </a:defRPr>
            </a:defPPr>
          </a:lstStyle>
          <a:p xmlns:a="http://schemas.openxmlformats.org/drawingml/2006/main">
            <a:pPr>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01  MVP memenuhi acceptance</a:t>
            </a:r>
          </a:p>
          <a:p xmlns:a="http://schemas.openxmlformats.org/drawingml/2006/main">
            <a:pPr>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02  Pilot menunjukkan manfaat</a:t>
            </a:r>
          </a:p>
          <a:p xmlns:a="http://schemas.openxmlformats.org/drawingml/2006/main">
            <a:pPr>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03  Pelanggan mengonfirmasi kemauan membayar</a:t>
            </a:r>
          </a:p>
        </p:txBody>
      </p:sp>
      <p:sp>
        <p:nvSpPr>
          <p:cNvPr id="6" name="">
            <a:extLst xmlns:a="http://schemas.openxmlformats.org/drawingml/2006/main">
              <a:ext uri="{FF2B5EF4-FFF2-40B4-BE49-F238E27FC236}">
                <a16:creationId xmlns:a16="http://schemas.microsoft.com/office/drawing/2014/main" id="{3383A2DD-4388-4A10-813E-C7567337B8CB}"/>
              </a:ext>
            </a:extLst>
          </p:cNvPr>
          <p:cNvSpPr>
            <a:spLocks xmlns:a="http://schemas.openxmlformats.org/drawingml/2006/main" noGrp="1"/>
          </p:cNvSpPr>
          <p:nvPr/>
        </p:nvSpPr>
        <p:spPr>
          <a:xfrm xmlns:a="http://schemas.openxmlformats.org/drawingml/2006/main">
            <a:off x="609600" y="49149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D4E8E0"/>
                </a:solidFill>
                <a:latin typeface="DejaVu Sans"/>
                <a:ea typeface="DejaVu Sans"/>
                <a:cs typeface="DejaVu Sans"/>
              </a:defRPr>
            </a:defPPr>
          </a:lstStyle>
          <a:p xmlns:a="http://schemas.openxmlformats.org/drawingml/2006/main">
            <a:pPr>
              <a:defRPr sz="2025" b="0">
                <a:solidFill>
                  <a:srgbClr val="D4E8E0"/>
                </a:solidFill>
                <a:latin typeface="DejaVu Sans"/>
                <a:ea typeface="DejaVu Sans"/>
                <a:cs typeface="DejaVu Sans"/>
              </a:defRPr>
            </a:pPr>
            <a:r>
              <a:rPr sz="2025" b="0">
                <a:solidFill>
                  <a:srgbClr val="D4E8E0"/>
                </a:solidFill>
                <a:latin typeface="DejaVu Sans"/>
                <a:ea typeface="DejaVu Sans"/>
                <a:cs typeface="DejaVu Sans"/>
              </a:rPr>
              <a:t>Pendanaan diarahkan pada pembangunan produk, konten pilot,</a:t>
            </a:r>
          </a:p>
          <a:p xmlns:a="http://schemas.openxmlformats.org/drawingml/2006/main">
            <a:pPr>
              <a:defRPr sz="2025" b="0">
                <a:solidFill>
                  <a:srgbClr val="D4E8E0"/>
                </a:solidFill>
                <a:latin typeface="DejaVu Sans"/>
                <a:ea typeface="DejaVu Sans"/>
                <a:cs typeface="DejaVu Sans"/>
              </a:defRPr>
            </a:pPr>
            <a:r>
              <a:rPr sz="2025" b="0">
                <a:solidFill>
                  <a:srgbClr val="D4E8E0"/>
                </a:solidFill>
                <a:latin typeface="DejaVu Sans"/>
                <a:ea typeface="DejaVu Sans"/>
                <a:cs typeface="DejaVu Sans"/>
              </a:rPr>
              <a:t>QA dan dukungan implementasi. Nominal kebutuhan belum ditetapkan.</a:t>
            </a:r>
          </a:p>
        </p:txBody>
      </p:sp>
    </p:spTree>
    <p:extLst>
      <p:ext uri="{BB962C8B-B14F-4D97-AF65-F5344CB8AC3E}">
        <p14:creationId xmlns:p14="http://schemas.microsoft.com/office/powerpoint/2010/main" val="34973592"/>
      </p:ext>
    </p:extLst>
  </p:cSld>
</p:sld>
</file>

<file path=ppt/slides/slide14.xml><?xml version="1.0" encoding="utf-8"?>
<p:sld xmlns:p="http://schemas.openxmlformats.org/presentationml/2006/main">
  <p:cSld>
    <p:bg>
      <p:bgPr>
        <a:solidFill xmlns:a="http://schemas.openxmlformats.org/drawingml/2006/main">
          <a:srgbClr val="102D3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8482DC-175E-4A7D-B34A-490B567C5FC9}"/>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D4E8E0"/>
                </a:solidFill>
                <a:latin typeface="DejaVu Sans"/>
                <a:ea typeface="DejaVu Sans"/>
                <a:cs typeface="DejaVu Sans"/>
              </a:defRPr>
            </a:defPPr>
          </a:lstStyle>
          <a:p xmlns:a="http://schemas.openxmlformats.org/drawingml/2006/main">
            <a:pPr>
              <a:defRPr sz="1125" b="1">
                <a:solidFill>
                  <a:srgbClr val="D4E8E0"/>
                </a:solidFill>
                <a:latin typeface="DejaVu Sans"/>
                <a:ea typeface="DejaVu Sans"/>
                <a:cs typeface="DejaVu Sans"/>
              </a:defRPr>
            </a:pPr>
            <a:r>
              <a:rPr sz="1125" b="1">
                <a:solidFill>
                  <a:srgbClr val="D4E8E0"/>
                </a:solidFill>
                <a:latin typeface="DejaVu Sans"/>
                <a:ea typeface="DejaVu Sans"/>
                <a:cs typeface="DejaVu Sans"/>
              </a:rPr>
              <a:t>CTO</a:t>
            </a:r>
          </a:p>
        </p:txBody>
      </p:sp>
      <p:sp>
        <p:nvSpPr>
          <p:cNvPr id="2" name="">
            <a:extLst xmlns:a="http://schemas.openxmlformats.org/drawingml/2006/main">
              <a:ext uri="{FF2B5EF4-FFF2-40B4-BE49-F238E27FC236}">
                <a16:creationId xmlns:a16="http://schemas.microsoft.com/office/drawing/2014/main" id="{555C7CE2-6F38-4AE8-AF3E-2CEFBF27D055}"/>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DejaVu Sans"/>
                <a:ea typeface="DejaVu Sans"/>
                <a:cs typeface="DejaVu Sans"/>
              </a:defRPr>
            </a:defPPr>
          </a:lstStyle>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Rancangan teknis</a:t>
            </a:r>
          </a:p>
        </p:txBody>
      </p:sp>
      <p:sp>
        <p:nvSpPr>
          <p:cNvPr id="3" name="">
            <a:extLst xmlns:a="http://schemas.openxmlformats.org/drawingml/2006/main">
              <a:ext uri="{FF2B5EF4-FFF2-40B4-BE49-F238E27FC236}">
                <a16:creationId xmlns:a16="http://schemas.microsoft.com/office/drawing/2014/main" id="{6A5F09E6-AE59-47FF-A55A-03797C125E9B}"/>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4E8E0"/>
                </a:solidFill>
                <a:latin typeface="DejaVu Sans"/>
                <a:ea typeface="DejaVu Sans"/>
                <a:cs typeface="DejaVu Sans"/>
              </a:defRPr>
            </a:defPPr>
          </a:lstStyle>
          <a:p xmlns:a="http://schemas.openxmlformats.org/drawingml/2006/main">
            <a:pPr>
              <a:defRPr sz="975" b="0">
                <a:solidFill>
                  <a:srgbClr val="D4E8E0"/>
                </a:solidFill>
                <a:latin typeface="DejaVu Sans"/>
                <a:ea typeface="DejaVu Sans"/>
                <a:cs typeface="DejaVu Sans"/>
              </a:defRPr>
            </a:pPr>
            <a:r>
              <a:rPr sz="975" b="0">
                <a:solidFill>
                  <a:srgbClr val="D4E8E0"/>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8C0085DC-C45A-47FF-82B5-A17AF8DAF0CA}"/>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4E8E0"/>
                </a:solidFill>
                <a:latin typeface="DejaVu Sans"/>
                <a:ea typeface="DejaVu Sans"/>
                <a:cs typeface="DejaVu Sans"/>
              </a:defRPr>
            </a:defPPr>
          </a:lstStyle>
          <a:p xmlns:a="http://schemas.openxmlformats.org/drawingml/2006/main">
            <a:pPr>
              <a:defRPr sz="975" b="0">
                <a:solidFill>
                  <a:srgbClr val="D4E8E0"/>
                </a:solidFill>
                <a:latin typeface="DejaVu Sans"/>
                <a:ea typeface="DejaVu Sans"/>
                <a:cs typeface="DejaVu Sans"/>
              </a:defRPr>
            </a:pPr>
            <a:r>
              <a:rPr sz="975" b="0">
                <a:solidFill>
                  <a:srgbClr val="D4E8E0"/>
                </a:solidFill>
                <a:latin typeface="DejaVu Sans"/>
                <a:ea typeface="DejaVu Sans"/>
                <a:cs typeface="DejaVu Sans"/>
              </a:rPr>
              <a:t>14</a:t>
            </a:r>
          </a:p>
        </p:txBody>
      </p:sp>
      <p:sp>
        <p:nvSpPr>
          <p:cNvPr id="5" name="">
            <a:extLst xmlns:a="http://schemas.openxmlformats.org/drawingml/2006/main">
              <a:ext uri="{FF2B5EF4-FFF2-40B4-BE49-F238E27FC236}">
                <a16:creationId xmlns:a16="http://schemas.microsoft.com/office/drawing/2014/main" id="{D1607EFC-B6AE-42F4-9E2E-42D1D5733D36}"/>
              </a:ext>
            </a:extLst>
          </p:cNvPr>
          <p:cNvSpPr>
            <a:spLocks xmlns:a="http://schemas.openxmlformats.org/drawingml/2006/main" noGrp="1"/>
          </p:cNvSpPr>
          <p:nvPr/>
        </p:nvSpPr>
        <p:spPr>
          <a:xfrm xmlns:a="http://schemas.openxmlformats.org/drawingml/2006/main">
            <a:off x="609600" y="2381250"/>
            <a:ext cx="104775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4575" b="1">
                <a:solidFill>
                  <a:srgbClr val="FFFFFF"/>
                </a:solidFill>
                <a:latin typeface="DejaVu Sans"/>
                <a:ea typeface="DejaVu Sans"/>
                <a:cs typeface="DejaVu Sans"/>
              </a:defRPr>
            </a:defPPr>
          </a:lstStyle>
          <a:p xmlns:a="http://schemas.openxmlformats.org/drawingml/2006/main">
            <a:pPr>
              <a:defRPr sz="4575" b="1">
                <a:solidFill>
                  <a:srgbClr val="FFFFFF"/>
                </a:solidFill>
                <a:latin typeface="DejaVu Sans"/>
                <a:ea typeface="DejaVu Sans"/>
                <a:cs typeface="DejaVu Sans"/>
              </a:defRPr>
            </a:pPr>
            <a:r>
              <a:rPr sz="4575" b="1">
                <a:solidFill>
                  <a:srgbClr val="FFFFFF"/>
                </a:solidFill>
                <a:latin typeface="DejaVu Sans"/>
                <a:ea typeface="DejaVu Sans"/>
                <a:cs typeface="DejaVu Sans"/>
              </a:rPr>
              <a:t>Monolit modular</a:t>
            </a:r>
          </a:p>
          <a:p xmlns:a="http://schemas.openxmlformats.org/drawingml/2006/main">
            <a:pPr>
              <a:defRPr sz="4575" b="1">
                <a:solidFill>
                  <a:srgbClr val="FFFFFF"/>
                </a:solidFill>
                <a:latin typeface="DejaVu Sans"/>
                <a:ea typeface="DejaVu Sans"/>
                <a:cs typeface="DejaVu Sans"/>
              </a:defRPr>
            </a:pPr>
            <a:r>
              <a:rPr sz="4575" b="1">
                <a:solidFill>
                  <a:srgbClr val="FFFFFF"/>
                </a:solidFill>
                <a:latin typeface="DejaVu Sans"/>
                <a:ea typeface="DejaVu Sans"/>
                <a:cs typeface="DejaVu Sans"/>
              </a:rPr>
              <a:t>dengan isolasi tenant</a:t>
            </a:r>
          </a:p>
        </p:txBody>
      </p:sp>
      <p:sp>
        <p:nvSpPr>
          <p:cNvPr id="6" name="">
            <a:extLst xmlns:a="http://schemas.openxmlformats.org/drawingml/2006/main">
              <a:ext uri="{FF2B5EF4-FFF2-40B4-BE49-F238E27FC236}">
                <a16:creationId xmlns:a16="http://schemas.microsoft.com/office/drawing/2014/main" id="{0A586E8E-B869-475A-A984-8A61B5C5DFD6}"/>
              </a:ext>
            </a:extLst>
          </p:cNvPr>
          <p:cNvSpPr>
            <a:spLocks xmlns:a="http://schemas.openxmlformats.org/drawingml/2006/main" noGrp="1"/>
          </p:cNvSpPr>
          <p:nvPr/>
        </p:nvSpPr>
        <p:spPr>
          <a:xfrm xmlns:a="http://schemas.openxmlformats.org/drawingml/2006/main">
            <a:off x="609600" y="476250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0">
                <a:solidFill>
                  <a:srgbClr val="D4E8E0"/>
                </a:solidFill>
                <a:latin typeface="DejaVu Sans"/>
                <a:ea typeface="DejaVu Sans"/>
                <a:cs typeface="DejaVu Sans"/>
              </a:defRPr>
            </a:defPPr>
          </a:lstStyle>
          <a:p xmlns:a="http://schemas.openxmlformats.org/drawingml/2006/main">
            <a:pPr>
              <a:defRPr sz="2250" b="0">
                <a:solidFill>
                  <a:srgbClr val="D4E8E0"/>
                </a:solidFill>
                <a:latin typeface="DejaVu Sans"/>
                <a:ea typeface="DejaVu Sans"/>
                <a:cs typeface="DejaVu Sans"/>
              </a:defRPr>
            </a:pPr>
            <a:r>
              <a:rPr sz="2250" b="0">
                <a:solidFill>
                  <a:srgbClr val="D4E8E0"/>
                </a:solidFill>
                <a:latin typeface="DejaVu Sans"/>
                <a:ea typeface="DejaVu Sans"/>
                <a:cs typeface="DejaVu Sans"/>
              </a:rPr>
              <a:t>Web responsif. PostgreSQL sebagai sumber kebenaran.</a:t>
            </a:r>
          </a:p>
          <a:p xmlns:a="http://schemas.openxmlformats.org/drawingml/2006/main">
            <a:pPr>
              <a:defRPr sz="2250" b="0">
                <a:solidFill>
                  <a:srgbClr val="D4E8E0"/>
                </a:solidFill>
                <a:latin typeface="DejaVu Sans"/>
                <a:ea typeface="DejaVu Sans"/>
                <a:cs typeface="DejaVu Sans"/>
              </a:defRPr>
            </a:pPr>
            <a:r>
              <a:rPr sz="2250" b="0">
                <a:solidFill>
                  <a:srgbClr val="D4E8E0"/>
                </a:solidFill>
                <a:latin typeface="DejaVu Sans"/>
                <a:ea typeface="DejaVu Sans"/>
                <a:cs typeface="DejaVu Sans"/>
              </a:rPr>
              <a:t>Alur inti beroperasi tanpa ketergantungan AI.</a:t>
            </a:r>
          </a:p>
        </p:txBody>
      </p:sp>
    </p:spTree>
    <p:extLst>
      <p:ext uri="{BB962C8B-B14F-4D97-AF65-F5344CB8AC3E}">
        <p14:creationId xmlns:p14="http://schemas.microsoft.com/office/powerpoint/2010/main" val="1658168996"/>
      </p:ext>
    </p:extLst>
  </p:cSld>
</p:sld>
</file>

<file path=ppt/slides/slide1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949624-1748-4CFA-B1F6-112933EF95B7}"/>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CTO</a:t>
            </a:r>
          </a:p>
        </p:txBody>
      </p:sp>
      <p:sp>
        <p:nvSpPr>
          <p:cNvPr id="2" name="">
            <a:extLst xmlns:a="http://schemas.openxmlformats.org/drawingml/2006/main">
              <a:ext uri="{FF2B5EF4-FFF2-40B4-BE49-F238E27FC236}">
                <a16:creationId xmlns:a16="http://schemas.microsoft.com/office/drawing/2014/main" id="{B4ACB49A-89ED-4F1B-B785-CE65C435E51F}"/>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Arsitektur awal</a:t>
            </a:r>
          </a:p>
        </p:txBody>
      </p:sp>
      <p:sp>
        <p:nvSpPr>
          <p:cNvPr id="3" name="">
            <a:extLst xmlns:a="http://schemas.openxmlformats.org/drawingml/2006/main">
              <a:ext uri="{FF2B5EF4-FFF2-40B4-BE49-F238E27FC236}">
                <a16:creationId xmlns:a16="http://schemas.microsoft.com/office/drawing/2014/main" id="{1E425899-7B40-4371-9C0F-757099D18474}"/>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782D32FB-FEA4-4986-903B-F739887F5396}"/>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15</a:t>
            </a:r>
          </a:p>
        </p:txBody>
      </p:sp>
      <p:graphicFrame>
        <p:nvGraphicFramePr>
          <p:cNvPr id="5" name="">
            <a:extLst xmlns:a="http://schemas.openxmlformats.org/drawingml/2006/main">
              <a:ext uri="{FF2B5EF4-FFF2-40B4-BE49-F238E27FC236}">
                <a16:creationId xmlns:a16="http://schemas.microsoft.com/office/drawing/2014/main" id="{B7FDA3ED-0B6B-4945-BC3F-AB7F9915054C}"/>
              </a:ext>
            </a:extLst>
          </p:cNvPr>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2476500"/>
                <a:gridCol w="3810000"/>
                <a:gridCol w="4686300"/>
              </a:tblGrid>
              <a:tr h="657225">
                <a:tc>
                  <a:txBody>
                    <a:bodyPr/>
                    <a:lstStyle/>
                    <a:p>
                      <a:r>
                        <a:rPr sz="1650" b="1">
                          <a:solidFill>
                            <a:srgbClr val="FFFFFF"/>
                          </a:solidFill>
                          <a:latin typeface="DejaVu Sans"/>
                          <a:ea typeface="DejaVu Sans"/>
                          <a:cs typeface="DejaVu Sans"/>
                        </a:rPr>
                        <a:t>Lapisan</a:t>
                      </a:r>
                    </a:p>
                  </a:txBody>
                  <a:tcPr marL="91440" marR="91440" marT="45720" marB="45720">
                    <a:lnL w="9525">
                      <a:solidFill>
                        <a:srgbClr val="D1DAD5"/>
                      </a:solidFill>
                      <a:prstDash val="solid"/>
                    </a:lnL>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Usulan teknologi</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Tanggung jawab</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r>
              <a:tr h="657225">
                <a:tc>
                  <a:txBody>
                    <a:bodyPr/>
                    <a:lstStyle/>
                    <a:p>
                      <a:r>
                        <a:rPr sz="1650" b="0">
                          <a:solidFill>
                            <a:srgbClr val="142E33"/>
                          </a:solidFill>
                          <a:latin typeface="DejaVu Sans"/>
                          <a:ea typeface="DejaVu Sans"/>
                          <a:cs typeface="DejaVu Sans"/>
                        </a:rPr>
                        <a:t>Antarmuka</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Next.js + TypeScript</a:t>
                      </a:r>
                    </a:p>
                  </a:txBody>
                  <a:tcPr marL="91440" marR="91440" marT="45720" marB="45720">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Web staf dan dashboard admin</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API</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NestJS</a:t>
                      </a:r>
                    </a:p>
                  </a:txBody>
                  <a:tcPr marL="91440" marR="91440" marT="45720" marB="45720">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Auth, scope, aturan bisnis</a:t>
                      </a:r>
                    </a:p>
                  </a:txBody>
                  <a:tcPr marL="91440" marR="91440" marT="45720" marB="45720">
                    <a:lnR w="9525">
                      <a:solidFill>
                        <a:srgbClr val="D1DAD5"/>
                      </a:solidFill>
                      <a:prstDash val="solid"/>
                    </a:lnR>
                    <a:lnB w="9525">
                      <a:solidFill>
                        <a:srgbClr val="D1DAD5"/>
                      </a:solidFill>
                      <a:prstDash val="solid"/>
                    </a:lnB>
                    <a:solidFill>
                      <a:srgbClr val="EAF0E9"/>
                    </a:solidFill>
                  </a:tcPr>
                </a:tc>
              </a:tr>
              <a:tr h="657225">
                <a:tc>
                  <a:txBody>
                    <a:bodyPr/>
                    <a:lstStyle/>
                    <a:p>
                      <a:r>
                        <a:rPr sz="1650" b="0">
                          <a:solidFill>
                            <a:srgbClr val="142E33"/>
                          </a:solidFill>
                          <a:latin typeface="DejaVu Sans"/>
                          <a:ea typeface="DejaVu Sans"/>
                          <a:cs typeface="DejaVu Sans"/>
                        </a:rPr>
                        <a:t>Data</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PostgreSQL</a:t>
                      </a:r>
                    </a:p>
                  </a:txBody>
                  <a:tcPr marL="91440" marR="91440" marT="45720" marB="45720">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Transaksi, histori dan outbox</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Job dan media</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Redis/BullMQ + S3</a:t>
                      </a:r>
                    </a:p>
                  </a:txBody>
                  <a:tcPr marL="91440" marR="91440" marT="45720" marB="45720">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Scheduler, retry, aset privat</a:t>
                      </a:r>
                    </a:p>
                  </a:txBody>
                  <a:tcPr marL="91440" marR="91440" marT="45720" marB="45720">
                    <a:lnR w="9525">
                      <a:solidFill>
                        <a:srgbClr val="D1DAD5"/>
                      </a:solidFill>
                      <a:prstDash val="solid"/>
                    </a:lnR>
                    <a:lnB w="9525">
                      <a:solidFill>
                        <a:srgbClr val="D1DAD5"/>
                      </a:solidFill>
                      <a:prstDash val="solid"/>
                    </a:lnB>
                    <a:solidFill>
                      <a:srgbClr val="EAF0E9"/>
                    </a:solidFill>
                  </a:tcPr>
                </a:tc>
              </a:tr>
            </a:tbl>
          </a:graphicData>
        </a:graphic>
      </p:graphicFrame>
      <p:sp>
        <p:nvSpPr>
          <p:cNvPr id="6" name="">
            <a:extLst xmlns:a="http://schemas.openxmlformats.org/drawingml/2006/main">
              <a:ext uri="{FF2B5EF4-FFF2-40B4-BE49-F238E27FC236}">
                <a16:creationId xmlns:a16="http://schemas.microsoft.com/office/drawing/2014/main" id="{E8D0FB3E-2A80-42D5-A7E5-ED6D07DD40D4}"/>
              </a:ext>
            </a:extLst>
          </p:cNvPr>
          <p:cNvSpPr>
            <a:spLocks xmlns:a="http://schemas.openxmlformats.org/drawingml/2006/main" noGrp="1"/>
          </p:cNvSpPr>
          <p:nvPr/>
        </p:nvSpPr>
        <p:spPr>
          <a:xfrm xmlns:a="http://schemas.openxmlformats.org/drawingml/2006/main">
            <a:off x="609600" y="56388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86A"/>
                </a:solidFill>
                <a:latin typeface="DejaVu Sans"/>
                <a:ea typeface="DejaVu Sans"/>
                <a:cs typeface="DejaVu Sans"/>
              </a:defRPr>
            </a:defPPr>
          </a:lstStyle>
          <a:p xmlns:a="http://schemas.openxmlformats.org/drawingml/2006/main">
            <a:pPr>
              <a:defRPr sz="1500" b="0">
                <a:solidFill>
                  <a:srgbClr val="52686A"/>
                </a:solidFill>
                <a:latin typeface="DejaVu Sans"/>
                <a:ea typeface="DejaVu Sans"/>
                <a:cs typeface="DejaVu Sans"/>
              </a:defRPr>
            </a:pPr>
            <a:r>
              <a:rPr sz="1500" b="0">
                <a:solidFill>
                  <a:srgbClr val="52686A"/>
                </a:solidFill>
                <a:latin typeface="DejaVu Sans"/>
                <a:ea typeface="DejaVu Sans"/>
                <a:cs typeface="DejaVu Sans"/>
              </a:rPr>
              <a:t>Pilot: Docker Compose di VPS. Supabase Postgres menjadi opsi layanan database.</a:t>
            </a:r>
          </a:p>
        </p:txBody>
      </p:sp>
    </p:spTree>
    <p:extLst>
      <p:ext uri="{BB962C8B-B14F-4D97-AF65-F5344CB8AC3E}">
        <p14:creationId xmlns:p14="http://schemas.microsoft.com/office/powerpoint/2010/main" val="1469616238"/>
      </p:ext>
    </p:extLst>
  </p:cSld>
</p:sld>
</file>

<file path=ppt/slides/slide1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10ABE50-74DD-4B35-8890-FAECFE1BD71D}"/>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CTO</a:t>
            </a:r>
          </a:p>
        </p:txBody>
      </p:sp>
      <p:sp>
        <p:nvSpPr>
          <p:cNvPr id="2" name="">
            <a:extLst xmlns:a="http://schemas.openxmlformats.org/drawingml/2006/main">
              <a:ext uri="{FF2B5EF4-FFF2-40B4-BE49-F238E27FC236}">
                <a16:creationId xmlns:a16="http://schemas.microsoft.com/office/drawing/2014/main" id="{3477793A-F77D-40A3-B2D7-CD81AC8A133B}"/>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Domain dan integritas data</a:t>
            </a:r>
          </a:p>
        </p:txBody>
      </p:sp>
      <p:sp>
        <p:nvSpPr>
          <p:cNvPr id="3" name="">
            <a:extLst xmlns:a="http://schemas.openxmlformats.org/drawingml/2006/main">
              <a:ext uri="{FF2B5EF4-FFF2-40B4-BE49-F238E27FC236}">
                <a16:creationId xmlns:a16="http://schemas.microsoft.com/office/drawing/2014/main" id="{84423203-DA2D-4948-A753-C1A7519DB50E}"/>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6DF6B2D8-8600-4305-AE9C-6BB9B6CE6E26}"/>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16</a:t>
            </a:r>
          </a:p>
        </p:txBody>
      </p:sp>
      <p:graphicFrame>
        <p:nvGraphicFramePr>
          <p:cNvPr id="5" name="">
            <a:extLst xmlns:a="http://schemas.openxmlformats.org/drawingml/2006/main">
              <a:ext uri="{FF2B5EF4-FFF2-40B4-BE49-F238E27FC236}">
                <a16:creationId xmlns:a16="http://schemas.microsoft.com/office/drawing/2014/main" id="{D384056E-C683-4819-8DD9-2762BF92F23A}"/>
              </a:ext>
            </a:extLst>
          </p:cNvPr>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2476500"/>
                <a:gridCol w="4095750"/>
                <a:gridCol w="4400550"/>
              </a:tblGrid>
              <a:tr h="657225">
                <a:tc>
                  <a:txBody>
                    <a:bodyPr/>
                    <a:lstStyle/>
                    <a:p>
                      <a:r>
                        <a:rPr sz="1650" b="1">
                          <a:solidFill>
                            <a:srgbClr val="FFFFFF"/>
                          </a:solidFill>
                          <a:latin typeface="DejaVu Sans"/>
                          <a:ea typeface="DejaVu Sans"/>
                          <a:cs typeface="DejaVu Sans"/>
                        </a:rPr>
                        <a:t>Domain</a:t>
                      </a:r>
                    </a:p>
                  </a:txBody>
                  <a:tcPr marL="91440" marR="91440" marT="45720" marB="45720">
                    <a:lnL w="9525">
                      <a:solidFill>
                        <a:srgbClr val="D1DAD5"/>
                      </a:solidFill>
                      <a:prstDash val="solid"/>
                    </a:lnL>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Entitas inti</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Aturan penting</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r>
              <a:tr h="657225">
                <a:tc>
                  <a:txBody>
                    <a:bodyPr/>
                    <a:lstStyle/>
                    <a:p>
                      <a:r>
                        <a:rPr sz="1650" b="0">
                          <a:solidFill>
                            <a:srgbClr val="142E33"/>
                          </a:solidFill>
                          <a:latin typeface="DejaVu Sans"/>
                          <a:ea typeface="DejaVu Sans"/>
                          <a:cs typeface="DejaVu Sans"/>
                        </a:rPr>
                        <a:t>Organisasi</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Tenant, membership, role grant</a:t>
                      </a:r>
                    </a:p>
                  </a:txBody>
                  <a:tcPr marL="91440" marR="91440" marT="45720" marB="45720">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Scope cabang pada server</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Learning</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Versi modul, assignment, attempt</a:t>
                      </a:r>
                    </a:p>
                  </a:txBody>
                  <a:tcPr marL="91440" marR="91440" marT="45720" marB="45720">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Versi tugas tetap immutable</a:t>
                      </a:r>
                    </a:p>
                  </a:txBody>
                  <a:tcPr marL="91440" marR="91440" marT="45720" marB="45720">
                    <a:lnR w="9525">
                      <a:solidFill>
                        <a:srgbClr val="D1DAD5"/>
                      </a:solidFill>
                      <a:prstDash val="solid"/>
                    </a:lnR>
                    <a:lnB w="9525">
                      <a:solidFill>
                        <a:srgbClr val="D1DAD5"/>
                      </a:solidFill>
                      <a:prstDash val="solid"/>
                    </a:lnB>
                    <a:solidFill>
                      <a:srgbClr val="EAF0E9"/>
                    </a:solidFill>
                  </a:tcPr>
                </a:tc>
              </a:tr>
              <a:tr h="657225">
                <a:tc>
                  <a:txBody>
                    <a:bodyPr/>
                    <a:lstStyle/>
                    <a:p>
                      <a:r>
                        <a:rPr sz="1650" b="0">
                          <a:solidFill>
                            <a:srgbClr val="142E33"/>
                          </a:solidFill>
                          <a:latin typeface="DejaVu Sans"/>
                          <a:ea typeface="DejaVu Sans"/>
                          <a:cs typeface="DejaVu Sans"/>
                        </a:rPr>
                        <a:t>Operasional</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Schedule, instance, review, issue</a:t>
                      </a:r>
                    </a:p>
                  </a:txBody>
                  <a:tcPr marL="91440" marR="91440" marT="45720" marB="45720">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Kunci unik dan jejak perubahan</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Kompetensi</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Job requirement, skill evidence</a:t>
                      </a:r>
                    </a:p>
                  </a:txBody>
                  <a:tcPr marL="91440" marR="91440" marT="45720" marB="45720">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Teori dan praktik sesuai definisi</a:t>
                      </a:r>
                    </a:p>
                  </a:txBody>
                  <a:tcPr marL="91440" marR="91440" marT="45720" marB="45720">
                    <a:lnR w="9525">
                      <a:solidFill>
                        <a:srgbClr val="D1DAD5"/>
                      </a:solidFill>
                      <a:prstDash val="solid"/>
                    </a:lnR>
                    <a:lnB w="9525">
                      <a:solidFill>
                        <a:srgbClr val="D1DAD5"/>
                      </a:solidFill>
                      <a:prstDash val="solid"/>
                    </a:lnB>
                    <a:solidFill>
                      <a:srgbClr val="EAF0E9"/>
                    </a:solidFill>
                  </a:tcPr>
                </a:tc>
              </a:tr>
            </a:tbl>
          </a:graphicData>
        </a:graphic>
      </p:graphicFrame>
      <p:sp>
        <p:nvSpPr>
          <p:cNvPr id="6" name="">
            <a:extLst xmlns:a="http://schemas.openxmlformats.org/drawingml/2006/main">
              <a:ext uri="{FF2B5EF4-FFF2-40B4-BE49-F238E27FC236}">
                <a16:creationId xmlns:a16="http://schemas.microsoft.com/office/drawing/2014/main" id="{7E22665E-D8A4-465C-8555-5D43C1FB869C}"/>
              </a:ext>
            </a:extLst>
          </p:cNvPr>
          <p:cNvSpPr>
            <a:spLocks xmlns:a="http://schemas.openxmlformats.org/drawingml/2006/main" noGrp="1"/>
          </p:cNvSpPr>
          <p:nvPr/>
        </p:nvSpPr>
        <p:spPr>
          <a:xfrm xmlns:a="http://schemas.openxmlformats.org/drawingml/2006/main">
            <a:off x="609600" y="56388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86A"/>
                </a:solidFill>
                <a:latin typeface="DejaVu Sans"/>
                <a:ea typeface="DejaVu Sans"/>
                <a:cs typeface="DejaVu Sans"/>
              </a:defRPr>
            </a:defPPr>
          </a:lstStyle>
          <a:p xmlns:a="http://schemas.openxmlformats.org/drawingml/2006/main">
            <a:pPr>
              <a:defRPr sz="1500" b="0">
                <a:solidFill>
                  <a:srgbClr val="52686A"/>
                </a:solidFill>
                <a:latin typeface="DejaVu Sans"/>
                <a:ea typeface="DejaVu Sans"/>
                <a:cs typeface="DejaVu Sans"/>
              </a:defRPr>
            </a:pPr>
            <a:r>
              <a:rPr sz="1500" b="0">
                <a:solidFill>
                  <a:srgbClr val="52686A"/>
                </a:solidFill>
                <a:latin typeface="DejaVu Sans"/>
                <a:ea typeface="DejaVu Sans"/>
                <a:cs typeface="DejaVu Sans"/>
              </a:rPr>
              <a:t>tenant_id mengikuti data, job, cache, ekspor, dan penyimpanan.</a:t>
            </a:r>
          </a:p>
        </p:txBody>
      </p:sp>
    </p:spTree>
    <p:extLst>
      <p:ext uri="{BB962C8B-B14F-4D97-AF65-F5344CB8AC3E}">
        <p14:creationId xmlns:p14="http://schemas.microsoft.com/office/powerpoint/2010/main" val="1608921487"/>
      </p:ext>
    </p:extLst>
  </p:cSld>
</p:sld>
</file>

<file path=ppt/slides/slide17.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B3BB790-7969-46E7-9128-9C0F646E6DFD}"/>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CTO</a:t>
            </a:r>
          </a:p>
        </p:txBody>
      </p:sp>
      <p:sp>
        <p:nvSpPr>
          <p:cNvPr id="2" name="">
            <a:extLst xmlns:a="http://schemas.openxmlformats.org/drawingml/2006/main">
              <a:ext uri="{FF2B5EF4-FFF2-40B4-BE49-F238E27FC236}">
                <a16:creationId xmlns:a16="http://schemas.microsoft.com/office/drawing/2014/main" id="{4CB0C6E9-827B-469A-A4AA-23BB144D78E7}"/>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Aturan penilaian dan versioning</a:t>
            </a:r>
          </a:p>
        </p:txBody>
      </p:sp>
      <p:sp>
        <p:nvSpPr>
          <p:cNvPr id="3" name="">
            <a:extLst xmlns:a="http://schemas.openxmlformats.org/drawingml/2006/main">
              <a:ext uri="{FF2B5EF4-FFF2-40B4-BE49-F238E27FC236}">
                <a16:creationId xmlns:a16="http://schemas.microsoft.com/office/drawing/2014/main" id="{26C94186-166C-41BE-A8E3-840E1073722C}"/>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25436B0D-7650-4141-AF8C-289EDFE7DD5F}"/>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17</a:t>
            </a:r>
          </a:p>
        </p:txBody>
      </p:sp>
      <p:sp>
        <p:nvSpPr>
          <p:cNvPr id="5" name="">
            <a:extLst xmlns:a="http://schemas.openxmlformats.org/drawingml/2006/main">
              <a:ext uri="{FF2B5EF4-FFF2-40B4-BE49-F238E27FC236}">
                <a16:creationId xmlns:a16="http://schemas.microsoft.com/office/drawing/2014/main" id="{C99220FB-C63B-4203-A535-D34BC05C8771}"/>
              </a:ext>
            </a:extLst>
          </p:cNvPr>
          <p:cNvSpPr>
            <a:spLocks xmlns:a="http://schemas.openxmlformats.org/drawingml/2006/main" noGrp="1"/>
          </p:cNvSpPr>
          <p:nvPr/>
        </p:nvSpPr>
        <p:spPr>
          <a:xfrm xmlns:a="http://schemas.openxmlformats.org/drawingml/2006/main">
            <a:off x="609600" y="21431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540CF7AB-4DDF-46D5-9F92-92102E86559B}"/>
              </a:ext>
            </a:extLst>
          </p:cNvPr>
          <p:cNvSpPr>
            <a:spLocks xmlns:a="http://schemas.openxmlformats.org/drawingml/2006/main" noGrp="1"/>
          </p:cNvSpPr>
          <p:nvPr/>
        </p:nvSpPr>
        <p:spPr>
          <a:xfrm xmlns:a="http://schemas.openxmlformats.org/drawingml/2006/main">
            <a:off x="1428750" y="21431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Teori memiliki batas yang jelas</a:t>
            </a:r>
          </a:p>
        </p:txBody>
      </p:sp>
      <p:sp>
        <p:nvSpPr>
          <p:cNvPr id="7" name="">
            <a:extLst xmlns:a="http://schemas.openxmlformats.org/drawingml/2006/main">
              <a:ext uri="{FF2B5EF4-FFF2-40B4-BE49-F238E27FC236}">
                <a16:creationId xmlns:a16="http://schemas.microsoft.com/office/drawing/2014/main" id="{762D1C59-EE4C-493E-A78A-F8564E176540}"/>
              </a:ext>
            </a:extLst>
          </p:cNvPr>
          <p:cNvSpPr>
            <a:spLocks xmlns:a="http://schemas.openxmlformats.org/drawingml/2006/main" noGrp="1"/>
          </p:cNvSpPr>
          <p:nvPr/>
        </p:nvSpPr>
        <p:spPr>
          <a:xfrm xmlns:a="http://schemas.openxmlformats.org/drawingml/2006/main">
            <a:off x="1428750" y="26003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Default lulus 80%, 1–5 soal, maksimal 3 percobaan sebelum reset beralasan.</a:t>
            </a:r>
          </a:p>
        </p:txBody>
      </p:sp>
      <p:sp>
        <p:nvSpPr>
          <p:cNvPr id="8" name="">
            <a:extLst xmlns:a="http://schemas.openxmlformats.org/drawingml/2006/main">
              <a:ext uri="{FF2B5EF4-FFF2-40B4-BE49-F238E27FC236}">
                <a16:creationId xmlns:a16="http://schemas.microsoft.com/office/drawing/2014/main" id="{7CB4E6EC-8D68-465C-9805-4B03FD5868CA}"/>
              </a:ext>
            </a:extLst>
          </p:cNvPr>
          <p:cNvSpPr>
            <a:spLocks xmlns:a="http://schemas.openxmlformats.org/drawingml/2006/main" noGrp="1"/>
          </p:cNvSpPr>
          <p:nvPr/>
        </p:nvSpPr>
        <p:spPr>
          <a:xfrm xmlns:a="http://schemas.openxmlformats.org/drawingml/2006/main">
            <a:off x="60960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8A367AEB-4F30-4E9B-9C88-219F39779339}"/>
              </a:ext>
            </a:extLst>
          </p:cNvPr>
          <p:cNvSpPr>
            <a:spLocks xmlns:a="http://schemas.openxmlformats.org/drawingml/2006/main" noGrp="1"/>
          </p:cNvSpPr>
          <p:nvPr/>
        </p:nvSpPr>
        <p:spPr>
          <a:xfrm xmlns:a="http://schemas.openxmlformats.org/drawingml/2006/main">
            <a:off x="1428750" y="34004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Praktik menentukan bukti kemampuan</a:t>
            </a:r>
          </a:p>
        </p:txBody>
      </p:sp>
      <p:sp>
        <p:nvSpPr>
          <p:cNvPr id="10" name="">
            <a:extLst xmlns:a="http://schemas.openxmlformats.org/drawingml/2006/main">
              <a:ext uri="{FF2B5EF4-FFF2-40B4-BE49-F238E27FC236}">
                <a16:creationId xmlns:a16="http://schemas.microsoft.com/office/drawing/2014/main" id="{2FAE3DCC-889D-437B-8A42-5240BFEF3FB5}"/>
              </a:ext>
            </a:extLst>
          </p:cNvPr>
          <p:cNvSpPr>
            <a:spLocks xmlns:a="http://schemas.openxmlformats.org/drawingml/2006/main" noGrp="1"/>
          </p:cNvSpPr>
          <p:nvPr/>
        </p:nvSpPr>
        <p:spPr>
          <a:xfrm xmlns:a="http://schemas.openxmlformats.org/drawingml/2006/main">
            <a:off x="1428750" y="38576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Assessor berwenang menilai rubrik. Sistem menolak persetujuan diri sendiri.</a:t>
            </a:r>
          </a:p>
        </p:txBody>
      </p:sp>
      <p:sp>
        <p:nvSpPr>
          <p:cNvPr id="11" name="">
            <a:extLst xmlns:a="http://schemas.openxmlformats.org/drawingml/2006/main">
              <a:ext uri="{FF2B5EF4-FFF2-40B4-BE49-F238E27FC236}">
                <a16:creationId xmlns:a16="http://schemas.microsoft.com/office/drawing/2014/main" id="{FD9DCFA2-E8A4-4837-B57D-9CE300B2E150}"/>
              </a:ext>
            </a:extLst>
          </p:cNvPr>
          <p:cNvSpPr>
            <a:spLocks xmlns:a="http://schemas.openxmlformats.org/drawingml/2006/main" noGrp="1"/>
          </p:cNvSpPr>
          <p:nvPr/>
        </p:nvSpPr>
        <p:spPr>
          <a:xfrm xmlns:a="http://schemas.openxmlformats.org/drawingml/2006/main">
            <a:off x="609600" y="46577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5565DE7F-FCF7-4C9C-AA45-BA016E2C66FA}"/>
              </a:ext>
            </a:extLst>
          </p:cNvPr>
          <p:cNvSpPr>
            <a:spLocks xmlns:a="http://schemas.openxmlformats.org/drawingml/2006/main" noGrp="1"/>
          </p:cNvSpPr>
          <p:nvPr/>
        </p:nvSpPr>
        <p:spPr>
          <a:xfrm xmlns:a="http://schemas.openxmlformats.org/drawingml/2006/main">
            <a:off x="1428750" y="46577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Riwayat tidak berubah diam-diam</a:t>
            </a:r>
          </a:p>
        </p:txBody>
      </p:sp>
      <p:sp>
        <p:nvSpPr>
          <p:cNvPr id="13" name="">
            <a:extLst xmlns:a="http://schemas.openxmlformats.org/drawingml/2006/main">
              <a:ext uri="{FF2B5EF4-FFF2-40B4-BE49-F238E27FC236}">
                <a16:creationId xmlns:a16="http://schemas.microsoft.com/office/drawing/2014/main" id="{C443BF9F-A21C-477E-8444-0C2FC4B2A62A}"/>
              </a:ext>
            </a:extLst>
          </p:cNvPr>
          <p:cNvSpPr>
            <a:spLocks xmlns:a="http://schemas.openxmlformats.org/drawingml/2006/main" noGrp="1"/>
          </p:cNvSpPr>
          <p:nvPr/>
        </p:nvSpPr>
        <p:spPr>
          <a:xfrm xmlns:a="http://schemas.openxmlformats.org/drawingml/2006/main">
            <a:off x="1428750" y="51149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Versi baru berlaku untuk tugas baru. Koreksi hasil menyimpan record pengganti.</a:t>
            </a:r>
          </a:p>
        </p:txBody>
      </p:sp>
    </p:spTree>
    <p:extLst>
      <p:ext uri="{BB962C8B-B14F-4D97-AF65-F5344CB8AC3E}">
        <p14:creationId xmlns:p14="http://schemas.microsoft.com/office/powerpoint/2010/main" val="876203743"/>
      </p:ext>
    </p:extLst>
  </p:cSld>
</p:sld>
</file>

<file path=ppt/slides/slide18.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CFA0A3-CBCF-4925-8B1F-3870710500E6}"/>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CTO</a:t>
            </a:r>
          </a:p>
        </p:txBody>
      </p:sp>
      <p:sp>
        <p:nvSpPr>
          <p:cNvPr id="2" name="">
            <a:extLst xmlns:a="http://schemas.openxmlformats.org/drawingml/2006/main">
              <a:ext uri="{FF2B5EF4-FFF2-40B4-BE49-F238E27FC236}">
                <a16:creationId xmlns:a16="http://schemas.microsoft.com/office/drawing/2014/main" id="{AD9451D4-2433-4F54-88A2-26F549444EB5}"/>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Scheduler, waktu, dan retry</a:t>
            </a:r>
          </a:p>
        </p:txBody>
      </p:sp>
      <p:sp>
        <p:nvSpPr>
          <p:cNvPr id="3" name="">
            <a:extLst xmlns:a="http://schemas.openxmlformats.org/drawingml/2006/main">
              <a:ext uri="{FF2B5EF4-FFF2-40B4-BE49-F238E27FC236}">
                <a16:creationId xmlns:a16="http://schemas.microsoft.com/office/drawing/2014/main" id="{03083FFC-09D0-4E6F-83C3-EA15ED55DE6F}"/>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76C13112-F631-417A-A579-EA5D1CAEE863}"/>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18</a:t>
            </a:r>
          </a:p>
        </p:txBody>
      </p:sp>
      <p:sp>
        <p:nvSpPr>
          <p:cNvPr id="5" name="">
            <a:extLst xmlns:a="http://schemas.openxmlformats.org/drawingml/2006/main">
              <a:ext uri="{FF2B5EF4-FFF2-40B4-BE49-F238E27FC236}">
                <a16:creationId xmlns:a16="http://schemas.microsoft.com/office/drawing/2014/main" id="{6CE53399-1263-4B62-83A1-814F696DA13F}"/>
              </a:ext>
            </a:extLst>
          </p:cNvPr>
          <p:cNvSpPr>
            <a:spLocks xmlns:a="http://schemas.openxmlformats.org/drawingml/2006/main" noGrp="1"/>
          </p:cNvSpPr>
          <p:nvPr/>
        </p:nvSpPr>
        <p:spPr>
          <a:xfrm xmlns:a="http://schemas.openxmlformats.org/drawingml/2006/main">
            <a:off x="609600" y="21431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5A165AEA-3A40-43BA-9CD2-0963AD8C76AA}"/>
              </a:ext>
            </a:extLst>
          </p:cNvPr>
          <p:cNvSpPr>
            <a:spLocks xmlns:a="http://schemas.openxmlformats.org/drawingml/2006/main" noGrp="1"/>
          </p:cNvSpPr>
          <p:nvPr/>
        </p:nvSpPr>
        <p:spPr>
          <a:xfrm xmlns:a="http://schemas.openxmlformats.org/drawingml/2006/main">
            <a:off x="1428750" y="21431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Instance unik per tugas</a:t>
            </a:r>
          </a:p>
        </p:txBody>
      </p:sp>
      <p:sp>
        <p:nvSpPr>
          <p:cNvPr id="7" name="">
            <a:extLst xmlns:a="http://schemas.openxmlformats.org/drawingml/2006/main">
              <a:ext uri="{FF2B5EF4-FFF2-40B4-BE49-F238E27FC236}">
                <a16:creationId xmlns:a16="http://schemas.microsoft.com/office/drawing/2014/main" id="{723A6DFF-246E-4FFE-B49E-18A37577D2EC}"/>
              </a:ext>
            </a:extLst>
          </p:cNvPr>
          <p:cNvSpPr>
            <a:spLocks xmlns:a="http://schemas.openxmlformats.org/drawingml/2006/main" noGrp="1"/>
          </p:cNvSpPr>
          <p:nvPr/>
        </p:nvSpPr>
        <p:spPr>
          <a:xfrm xmlns:a="http://schemas.openxmlformats.org/drawingml/2006/main">
            <a:off x="1428750" y="26003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tenant + schedule + tanggal lokal + shift + penerima. Constraint mencegah duplikasi.</a:t>
            </a:r>
          </a:p>
        </p:txBody>
      </p:sp>
      <p:sp>
        <p:nvSpPr>
          <p:cNvPr id="8" name="">
            <a:extLst xmlns:a="http://schemas.openxmlformats.org/drawingml/2006/main">
              <a:ext uri="{FF2B5EF4-FFF2-40B4-BE49-F238E27FC236}">
                <a16:creationId xmlns:a16="http://schemas.microsoft.com/office/drawing/2014/main" id="{6227F9B5-7DB3-4CAE-A760-B51B21D67D0A}"/>
              </a:ext>
            </a:extLst>
          </p:cNvPr>
          <p:cNvSpPr>
            <a:spLocks xmlns:a="http://schemas.openxmlformats.org/drawingml/2006/main" noGrp="1"/>
          </p:cNvSpPr>
          <p:nvPr/>
        </p:nvSpPr>
        <p:spPr>
          <a:xfrm xmlns:a="http://schemas.openxmlformats.org/drawingml/2006/main">
            <a:off x="60960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D2FED412-3178-4A2A-847D-3F3732DD8A69}"/>
              </a:ext>
            </a:extLst>
          </p:cNvPr>
          <p:cNvSpPr>
            <a:spLocks xmlns:a="http://schemas.openxmlformats.org/drawingml/2006/main" noGrp="1"/>
          </p:cNvSpPr>
          <p:nvPr/>
        </p:nvSpPr>
        <p:spPr>
          <a:xfrm xmlns:a="http://schemas.openxmlformats.org/drawingml/2006/main">
            <a:off x="1428750" y="34004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Waktu mengikuti lokasi kerja</a:t>
            </a:r>
          </a:p>
        </p:txBody>
      </p:sp>
      <p:sp>
        <p:nvSpPr>
          <p:cNvPr id="10" name="">
            <a:extLst xmlns:a="http://schemas.openxmlformats.org/drawingml/2006/main">
              <a:ext uri="{FF2B5EF4-FFF2-40B4-BE49-F238E27FC236}">
                <a16:creationId xmlns:a16="http://schemas.microsoft.com/office/drawing/2014/main" id="{8FB8172B-2DAF-402F-9A58-21609C272DB8}"/>
              </a:ext>
            </a:extLst>
          </p:cNvPr>
          <p:cNvSpPr>
            <a:spLocks xmlns:a="http://schemas.openxmlformats.org/drawingml/2006/main" noGrp="1"/>
          </p:cNvSpPr>
          <p:nvPr/>
        </p:nvSpPr>
        <p:spPr>
          <a:xfrm xmlns:a="http://schemas.openxmlformats.org/drawingml/2006/main">
            <a:off x="1428750" y="38576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Simpan UTC. Hitung jadwal melalui timezone cabang dan tanggal awal shift.</a:t>
            </a:r>
          </a:p>
        </p:txBody>
      </p:sp>
      <p:sp>
        <p:nvSpPr>
          <p:cNvPr id="11" name="">
            <a:extLst xmlns:a="http://schemas.openxmlformats.org/drawingml/2006/main">
              <a:ext uri="{FF2B5EF4-FFF2-40B4-BE49-F238E27FC236}">
                <a16:creationId xmlns:a16="http://schemas.microsoft.com/office/drawing/2014/main" id="{C39F5C5E-3A3B-4258-84D8-908A67375549}"/>
              </a:ext>
            </a:extLst>
          </p:cNvPr>
          <p:cNvSpPr>
            <a:spLocks xmlns:a="http://schemas.openxmlformats.org/drawingml/2006/main" noGrp="1"/>
          </p:cNvSpPr>
          <p:nvPr/>
        </p:nvSpPr>
        <p:spPr>
          <a:xfrm xmlns:a="http://schemas.openxmlformats.org/drawingml/2006/main">
            <a:off x="609600" y="46577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8D4813EC-2630-4F45-8B3A-342EF9A5BB80}"/>
              </a:ext>
            </a:extLst>
          </p:cNvPr>
          <p:cNvSpPr>
            <a:spLocks xmlns:a="http://schemas.openxmlformats.org/drawingml/2006/main" noGrp="1"/>
          </p:cNvSpPr>
          <p:nvPr/>
        </p:nvSpPr>
        <p:spPr>
          <a:xfrm xmlns:a="http://schemas.openxmlformats.org/drawingml/2006/main">
            <a:off x="1428750" y="46577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Worker memproses ulang dengan aman</a:t>
            </a:r>
          </a:p>
        </p:txBody>
      </p:sp>
      <p:sp>
        <p:nvSpPr>
          <p:cNvPr id="13" name="">
            <a:extLst xmlns:a="http://schemas.openxmlformats.org/drawingml/2006/main">
              <a:ext uri="{FF2B5EF4-FFF2-40B4-BE49-F238E27FC236}">
                <a16:creationId xmlns:a16="http://schemas.microsoft.com/office/drawing/2014/main" id="{AD21F658-F3EF-48F1-8137-1062C3FA6D8B}"/>
              </a:ext>
            </a:extLst>
          </p:cNvPr>
          <p:cNvSpPr>
            <a:spLocks xmlns:a="http://schemas.openxmlformats.org/drawingml/2006/main" noGrp="1"/>
          </p:cNvSpPr>
          <p:nvPr/>
        </p:nvSpPr>
        <p:spPr>
          <a:xfrm xmlns:a="http://schemas.openxmlformats.org/drawingml/2006/main">
            <a:off x="1428750" y="51149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Transaksi dan outbox, Idempotency-Key, backoff, serta antrean gagal.</a:t>
            </a:r>
          </a:p>
        </p:txBody>
      </p:sp>
    </p:spTree>
    <p:extLst>
      <p:ext uri="{BB962C8B-B14F-4D97-AF65-F5344CB8AC3E}">
        <p14:creationId xmlns:p14="http://schemas.microsoft.com/office/powerpoint/2010/main" val="48472274"/>
      </p:ext>
    </p:extLst>
  </p:cSld>
</p:sld>
</file>

<file path=ppt/slides/slide19.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8F7A4E0-6879-41EA-9474-E6970D2A254B}"/>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CTO</a:t>
            </a:r>
          </a:p>
        </p:txBody>
      </p:sp>
      <p:sp>
        <p:nvSpPr>
          <p:cNvPr id="2" name="">
            <a:extLst xmlns:a="http://schemas.openxmlformats.org/drawingml/2006/main">
              <a:ext uri="{FF2B5EF4-FFF2-40B4-BE49-F238E27FC236}">
                <a16:creationId xmlns:a16="http://schemas.microsoft.com/office/drawing/2014/main" id="{EBECC879-4645-42A1-86C5-0A045CA9B684}"/>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Kontrol keamanan dan privasi</a:t>
            </a:r>
          </a:p>
        </p:txBody>
      </p:sp>
      <p:sp>
        <p:nvSpPr>
          <p:cNvPr id="3" name="">
            <a:extLst xmlns:a="http://schemas.openxmlformats.org/drawingml/2006/main">
              <a:ext uri="{FF2B5EF4-FFF2-40B4-BE49-F238E27FC236}">
                <a16:creationId xmlns:a16="http://schemas.microsoft.com/office/drawing/2014/main" id="{C3574E9D-C502-4DF6-BE95-C7B0616AA7E4}"/>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D5CFC1D3-4533-498B-830E-BFAD4B2CB163}"/>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19</a:t>
            </a:r>
          </a:p>
        </p:txBody>
      </p:sp>
      <p:sp>
        <p:nvSpPr>
          <p:cNvPr id="5" name="">
            <a:extLst xmlns:a="http://schemas.openxmlformats.org/drawingml/2006/main">
              <a:ext uri="{FF2B5EF4-FFF2-40B4-BE49-F238E27FC236}">
                <a16:creationId xmlns:a16="http://schemas.microsoft.com/office/drawing/2014/main" id="{8C44FBB8-50C5-4F71-888C-E26A8E8CBBC8}"/>
              </a:ext>
            </a:extLst>
          </p:cNvPr>
          <p:cNvSpPr>
            <a:spLocks xmlns:a="http://schemas.openxmlformats.org/drawingml/2006/main" noGrp="1"/>
          </p:cNvSpPr>
          <p:nvPr/>
        </p:nvSpPr>
        <p:spPr>
          <a:xfrm xmlns:a="http://schemas.openxmlformats.org/drawingml/2006/main">
            <a:off x="609600" y="21431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168B77FA-5AD2-4CFD-BB86-C9FC6049E8B1}"/>
              </a:ext>
            </a:extLst>
          </p:cNvPr>
          <p:cNvSpPr>
            <a:spLocks xmlns:a="http://schemas.openxmlformats.org/drawingml/2006/main" noGrp="1"/>
          </p:cNvSpPr>
          <p:nvPr/>
        </p:nvSpPr>
        <p:spPr>
          <a:xfrm xmlns:a="http://schemas.openxmlformats.org/drawingml/2006/main">
            <a:off x="1428750" y="21431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Izin mengikuti tenant dan scope</a:t>
            </a:r>
          </a:p>
        </p:txBody>
      </p:sp>
      <p:sp>
        <p:nvSpPr>
          <p:cNvPr id="7" name="">
            <a:extLst xmlns:a="http://schemas.openxmlformats.org/drawingml/2006/main">
              <a:ext uri="{FF2B5EF4-FFF2-40B4-BE49-F238E27FC236}">
                <a16:creationId xmlns:a16="http://schemas.microsoft.com/office/drawing/2014/main" id="{E2572897-940C-4878-8D9F-FDCD368D7E13}"/>
              </a:ext>
            </a:extLst>
          </p:cNvPr>
          <p:cNvSpPr>
            <a:spLocks xmlns:a="http://schemas.openxmlformats.org/drawingml/2006/main" noGrp="1"/>
          </p:cNvSpPr>
          <p:nvPr/>
        </p:nvSpPr>
        <p:spPr>
          <a:xfrm xmlns:a="http://schemas.openxmlformats.org/drawingml/2006/main">
            <a:off x="1428750" y="26003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Uji objek, laporan, media, job, dan ekspor lintas perusahaan.</a:t>
            </a:r>
          </a:p>
        </p:txBody>
      </p:sp>
      <p:sp>
        <p:nvSpPr>
          <p:cNvPr id="8" name="">
            <a:extLst xmlns:a="http://schemas.openxmlformats.org/drawingml/2006/main">
              <a:ext uri="{FF2B5EF4-FFF2-40B4-BE49-F238E27FC236}">
                <a16:creationId xmlns:a16="http://schemas.microsoft.com/office/drawing/2014/main" id="{51B6C3EB-74A4-409A-AAF5-35B6ED87297B}"/>
              </a:ext>
            </a:extLst>
          </p:cNvPr>
          <p:cNvSpPr>
            <a:spLocks xmlns:a="http://schemas.openxmlformats.org/drawingml/2006/main" noGrp="1"/>
          </p:cNvSpPr>
          <p:nvPr/>
        </p:nvSpPr>
        <p:spPr>
          <a:xfrm xmlns:a="http://schemas.openxmlformats.org/drawingml/2006/main">
            <a:off x="60960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05458E73-A542-4444-BE07-6EA6C3734ED9}"/>
              </a:ext>
            </a:extLst>
          </p:cNvPr>
          <p:cNvSpPr>
            <a:spLocks xmlns:a="http://schemas.openxmlformats.org/drawingml/2006/main" noGrp="1"/>
          </p:cNvSpPr>
          <p:nvPr/>
        </p:nvSpPr>
        <p:spPr>
          <a:xfrm xmlns:a="http://schemas.openxmlformats.org/drawingml/2006/main">
            <a:off x="1428750" y="34004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Akun dan aset mendapat perlindungan</a:t>
            </a:r>
          </a:p>
        </p:txBody>
      </p:sp>
      <p:sp>
        <p:nvSpPr>
          <p:cNvPr id="10" name="">
            <a:extLst xmlns:a="http://schemas.openxmlformats.org/drawingml/2006/main">
              <a:ext uri="{FF2B5EF4-FFF2-40B4-BE49-F238E27FC236}">
                <a16:creationId xmlns:a16="http://schemas.microsoft.com/office/drawing/2014/main" id="{7DCC7D39-67CB-4E62-9770-700C538BB1CD}"/>
              </a:ext>
            </a:extLst>
          </p:cNvPr>
          <p:cNvSpPr>
            <a:spLocks xmlns:a="http://schemas.openxmlformats.org/drawingml/2006/main" noGrp="1"/>
          </p:cNvSpPr>
          <p:nvPr/>
        </p:nvSpPr>
        <p:spPr>
          <a:xfrm xmlns:a="http://schemas.openxmlformats.org/drawingml/2006/main">
            <a:off x="1428750" y="38576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MFA admin, pencabutan sesi, bucket privat, signed URL, validasi unggahan.</a:t>
            </a:r>
          </a:p>
        </p:txBody>
      </p:sp>
      <p:sp>
        <p:nvSpPr>
          <p:cNvPr id="11" name="">
            <a:extLst xmlns:a="http://schemas.openxmlformats.org/drawingml/2006/main">
              <a:ext uri="{FF2B5EF4-FFF2-40B4-BE49-F238E27FC236}">
                <a16:creationId xmlns:a16="http://schemas.microsoft.com/office/drawing/2014/main" id="{D4DA7412-317B-4415-A12F-76FE4859FED9}"/>
              </a:ext>
            </a:extLst>
          </p:cNvPr>
          <p:cNvSpPr>
            <a:spLocks xmlns:a="http://schemas.openxmlformats.org/drawingml/2006/main" noGrp="1"/>
          </p:cNvSpPr>
          <p:nvPr/>
        </p:nvSpPr>
        <p:spPr>
          <a:xfrm xmlns:a="http://schemas.openxmlformats.org/drawingml/2006/main">
            <a:off x="609600" y="46577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BDDA6885-34C0-44B7-8093-59F8E0826B9F}"/>
              </a:ext>
            </a:extLst>
          </p:cNvPr>
          <p:cNvSpPr>
            <a:spLocks xmlns:a="http://schemas.openxmlformats.org/drawingml/2006/main" noGrp="1"/>
          </p:cNvSpPr>
          <p:nvPr/>
        </p:nvSpPr>
        <p:spPr>
          <a:xfrm xmlns:a="http://schemas.openxmlformats.org/drawingml/2006/main">
            <a:off x="1428750" y="46577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Pekerja dapat meminta koreksi</a:t>
            </a:r>
          </a:p>
        </p:txBody>
      </p:sp>
      <p:sp>
        <p:nvSpPr>
          <p:cNvPr id="13" name="">
            <a:extLst xmlns:a="http://schemas.openxmlformats.org/drawingml/2006/main">
              <a:ext uri="{FF2B5EF4-FFF2-40B4-BE49-F238E27FC236}">
                <a16:creationId xmlns:a16="http://schemas.microsoft.com/office/drawing/2014/main" id="{A1C4EC15-A2D9-4E6C-B9B1-EE2EBF0E6CDB}"/>
              </a:ext>
            </a:extLst>
          </p:cNvPr>
          <p:cNvSpPr>
            <a:spLocks xmlns:a="http://schemas.openxmlformats.org/drawingml/2006/main" noGrp="1"/>
          </p:cNvSpPr>
          <p:nvPr/>
        </p:nvSpPr>
        <p:spPr>
          <a:xfrm xmlns:a="http://schemas.openxmlformats.org/drawingml/2006/main">
            <a:off x="1428750" y="51149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Minimalkan data pribadi dan audit akses. Kebijakan retensi perlu persetujuan.</a:t>
            </a:r>
          </a:p>
        </p:txBody>
      </p:sp>
    </p:spTree>
    <p:extLst>
      <p:ext uri="{BB962C8B-B14F-4D97-AF65-F5344CB8AC3E}">
        <p14:creationId xmlns:p14="http://schemas.microsoft.com/office/powerpoint/2010/main" val="234078582"/>
      </p:ext>
    </p:extLst>
  </p:cSld>
</p:sld>
</file>

<file path=ppt/slides/slide20.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60F5DC-FFDD-43B8-B5E8-D1599A1B3D45}"/>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CTO</a:t>
            </a:r>
          </a:p>
        </p:txBody>
      </p:sp>
      <p:sp>
        <p:nvSpPr>
          <p:cNvPr id="2" name="">
            <a:extLst xmlns:a="http://schemas.openxmlformats.org/drawingml/2006/main">
              <a:ext uri="{FF2B5EF4-FFF2-40B4-BE49-F238E27FC236}">
                <a16:creationId xmlns:a16="http://schemas.microsoft.com/office/drawing/2014/main" id="{61C96721-0F80-4536-BB6B-71A789D0052E}"/>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Target operasional awal</a:t>
            </a:r>
          </a:p>
        </p:txBody>
      </p:sp>
      <p:sp>
        <p:nvSpPr>
          <p:cNvPr id="3" name="">
            <a:extLst xmlns:a="http://schemas.openxmlformats.org/drawingml/2006/main">
              <a:ext uri="{FF2B5EF4-FFF2-40B4-BE49-F238E27FC236}">
                <a16:creationId xmlns:a16="http://schemas.microsoft.com/office/drawing/2014/main" id="{86CC627C-290C-4C89-87DD-EB5DFEFC445A}"/>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6B4F7946-7209-4B50-AD38-DB106622FD1F}"/>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20</a:t>
            </a:r>
          </a:p>
        </p:txBody>
      </p:sp>
      <p:graphicFrame>
        <p:nvGraphicFramePr>
          <p:cNvPr id="5" name="">
            <a:extLst xmlns:a="http://schemas.openxmlformats.org/drawingml/2006/main">
              <a:ext uri="{FF2B5EF4-FFF2-40B4-BE49-F238E27FC236}">
                <a16:creationId xmlns:a16="http://schemas.microsoft.com/office/drawing/2014/main" id="{A73DEAED-2185-4B58-986D-78738AE72D00}"/>
              </a:ext>
            </a:extLst>
          </p:cNvPr>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3238500"/>
                <a:gridCol w="3857625"/>
                <a:gridCol w="3876675"/>
              </a:tblGrid>
              <a:tr h="657225">
                <a:tc>
                  <a:txBody>
                    <a:bodyPr/>
                    <a:lstStyle/>
                    <a:p>
                      <a:r>
                        <a:rPr sz="1650" b="1">
                          <a:solidFill>
                            <a:srgbClr val="FFFFFF"/>
                          </a:solidFill>
                          <a:latin typeface="DejaVu Sans"/>
                          <a:ea typeface="DejaVu Sans"/>
                          <a:cs typeface="DejaVu Sans"/>
                        </a:rPr>
                        <a:t>Area</a:t>
                      </a:r>
                    </a:p>
                  </a:txBody>
                  <a:tcPr marL="91440" marR="91440" marT="45720" marB="45720">
                    <a:lnL w="9525">
                      <a:solidFill>
                        <a:srgbClr val="D1DAD5"/>
                      </a:solidFill>
                      <a:prstDash val="solid"/>
                    </a:lnL>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Target perencanaan</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Validasi</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r>
              <a:tr h="657225">
                <a:tc>
                  <a:txBody>
                    <a:bodyPr/>
                    <a:lstStyle/>
                    <a:p>
                      <a:r>
                        <a:rPr sz="1650" b="0">
                          <a:solidFill>
                            <a:srgbClr val="142E33"/>
                          </a:solidFill>
                          <a:latin typeface="DejaVu Sans"/>
                          <a:ea typeface="DejaVu Sans"/>
                          <a:cs typeface="DejaVu Sans"/>
                        </a:rPr>
                        <a:t>Beban pilot</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10 tenant × 1.000 staf</a:t>
                      </a:r>
                    </a:p>
                  </a:txBody>
                  <a:tcPr marL="91440" marR="91440" marT="45720" marB="45720">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200 pengguna bersamaan</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Respons API biasa</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p95 ≤800 ms</a:t>
                      </a:r>
                    </a:p>
                  </a:txBody>
                  <a:tcPr marL="91440" marR="91440" marT="45720" marB="45720">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Tanpa transfer media</a:t>
                      </a:r>
                    </a:p>
                  </a:txBody>
                  <a:tcPr marL="91440" marR="91440" marT="45720" marB="45720">
                    <a:lnR w="9525">
                      <a:solidFill>
                        <a:srgbClr val="D1DAD5"/>
                      </a:solidFill>
                      <a:prstDash val="solid"/>
                    </a:lnR>
                    <a:lnB w="9525">
                      <a:solidFill>
                        <a:srgbClr val="D1DAD5"/>
                      </a:solidFill>
                      <a:prstDash val="solid"/>
                    </a:lnB>
                    <a:solidFill>
                      <a:srgbClr val="EAF0E9"/>
                    </a:solidFill>
                  </a:tcPr>
                </a:tc>
              </a:tr>
              <a:tr h="657225">
                <a:tc>
                  <a:txBody>
                    <a:bodyPr/>
                    <a:lstStyle/>
                    <a:p>
                      <a:r>
                        <a:rPr sz="1650" b="0">
                          <a:solidFill>
                            <a:srgbClr val="142E33"/>
                          </a:solidFill>
                          <a:latin typeface="DejaVu Sans"/>
                          <a:ea typeface="DejaVu Sans"/>
                          <a:cs typeface="DejaVu Sans"/>
                        </a:rPr>
                        <a:t>Ketersediaan</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99,5% per bulan</a:t>
                      </a:r>
                    </a:p>
                  </a:txBody>
                  <a:tcPr marL="91440" marR="91440" marT="45720" marB="45720">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Sasaran, belum SLA kontrak</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Pemulihan</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RPO ≤24 jam, RTO ≤8 jam</a:t>
                      </a:r>
                    </a:p>
                  </a:txBody>
                  <a:tcPr marL="91440" marR="91440" marT="45720" marB="45720">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Uji restore database dan aset</a:t>
                      </a:r>
                    </a:p>
                  </a:txBody>
                  <a:tcPr marL="91440" marR="91440" marT="45720" marB="45720">
                    <a:lnR w="9525">
                      <a:solidFill>
                        <a:srgbClr val="D1DAD5"/>
                      </a:solidFill>
                      <a:prstDash val="solid"/>
                    </a:lnR>
                    <a:lnB w="9525">
                      <a:solidFill>
                        <a:srgbClr val="D1DAD5"/>
                      </a:solidFill>
                      <a:prstDash val="solid"/>
                    </a:lnB>
                    <a:solidFill>
                      <a:srgbClr val="EAF0E9"/>
                    </a:solidFill>
                  </a:tcPr>
                </a:tc>
              </a:tr>
            </a:tbl>
          </a:graphicData>
        </a:graphic>
      </p:graphicFrame>
      <p:sp>
        <p:nvSpPr>
          <p:cNvPr id="6" name="">
            <a:extLst xmlns:a="http://schemas.openxmlformats.org/drawingml/2006/main">
              <a:ext uri="{FF2B5EF4-FFF2-40B4-BE49-F238E27FC236}">
                <a16:creationId xmlns:a16="http://schemas.microsoft.com/office/drawing/2014/main" id="{0D26C089-0F7B-4871-8836-44834CCF8D27}"/>
              </a:ext>
            </a:extLst>
          </p:cNvPr>
          <p:cNvSpPr>
            <a:spLocks xmlns:a="http://schemas.openxmlformats.org/drawingml/2006/main" noGrp="1"/>
          </p:cNvSpPr>
          <p:nvPr/>
        </p:nvSpPr>
        <p:spPr>
          <a:xfrm xmlns:a="http://schemas.openxmlformats.org/drawingml/2006/main">
            <a:off x="609600" y="56388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86A"/>
                </a:solidFill>
                <a:latin typeface="DejaVu Sans"/>
                <a:ea typeface="DejaVu Sans"/>
                <a:cs typeface="DejaVu Sans"/>
              </a:defRPr>
            </a:defPPr>
          </a:lstStyle>
          <a:p xmlns:a="http://schemas.openxmlformats.org/drawingml/2006/main">
            <a:pPr>
              <a:defRPr sz="1500" b="0">
                <a:solidFill>
                  <a:srgbClr val="52686A"/>
                </a:solidFill>
                <a:latin typeface="DejaVu Sans"/>
                <a:ea typeface="DejaVu Sans"/>
                <a:cs typeface="DejaVu Sans"/>
              </a:defRPr>
            </a:pPr>
            <a:r>
              <a:rPr sz="1500" b="0">
                <a:solidFill>
                  <a:srgbClr val="52686A"/>
                </a:solidFill>
                <a:latin typeface="DejaVu Sans"/>
                <a:ea typeface="DejaVu Sans"/>
                <a:cs typeface="DejaVu Sans"/>
              </a:rPr>
              <a:t>Kapasitas dan target belum terbukti. Uji pada infrastruktur yang dipilih.</a:t>
            </a:r>
          </a:p>
        </p:txBody>
      </p:sp>
    </p:spTree>
    <p:extLst>
      <p:ext uri="{BB962C8B-B14F-4D97-AF65-F5344CB8AC3E}">
        <p14:creationId xmlns:p14="http://schemas.microsoft.com/office/powerpoint/2010/main" val="1472646064"/>
      </p:ext>
    </p:extLst>
  </p:cSld>
</p:sld>
</file>

<file path=ppt/slides/slide2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4C82E9-4ECC-4D59-9C05-4424288D5A24}"/>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CTO</a:t>
            </a:r>
          </a:p>
        </p:txBody>
      </p:sp>
      <p:sp>
        <p:nvSpPr>
          <p:cNvPr id="2" name="">
            <a:extLst xmlns:a="http://schemas.openxmlformats.org/drawingml/2006/main">
              <a:ext uri="{FF2B5EF4-FFF2-40B4-BE49-F238E27FC236}">
                <a16:creationId xmlns:a16="http://schemas.microsoft.com/office/drawing/2014/main" id="{11011EA8-B98B-4765-8C49-B821605257BB}"/>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Rencana pembangunan enam sprint</a:t>
            </a:r>
          </a:p>
        </p:txBody>
      </p:sp>
      <p:sp>
        <p:nvSpPr>
          <p:cNvPr id="3" name="">
            <a:extLst xmlns:a="http://schemas.openxmlformats.org/drawingml/2006/main">
              <a:ext uri="{FF2B5EF4-FFF2-40B4-BE49-F238E27FC236}">
                <a16:creationId xmlns:a16="http://schemas.microsoft.com/office/drawing/2014/main" id="{EDA9BEE3-BC7D-42D5-BE15-3F02E04125C2}"/>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B4C768CB-39DA-4656-9FEC-F71071E6FCDF}"/>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21</a:t>
            </a:r>
          </a:p>
        </p:txBody>
      </p:sp>
      <p:graphicFrame>
        <p:nvGraphicFramePr>
          <p:cNvPr id="5" name="">
            <a:extLst xmlns:a="http://schemas.openxmlformats.org/drawingml/2006/main">
              <a:ext uri="{FF2B5EF4-FFF2-40B4-BE49-F238E27FC236}">
                <a16:creationId xmlns:a16="http://schemas.microsoft.com/office/drawing/2014/main" id="{BFAC7A9B-446A-4339-ADB3-00BA8313E189}"/>
              </a:ext>
            </a:extLst>
          </p:cNvPr>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2000250"/>
                <a:gridCol w="5095875"/>
                <a:gridCol w="3876675"/>
              </a:tblGrid>
              <a:tr h="657225">
                <a:tc>
                  <a:txBody>
                    <a:bodyPr/>
                    <a:lstStyle/>
                    <a:p>
                      <a:r>
                        <a:rPr sz="1650" b="1">
                          <a:solidFill>
                            <a:srgbClr val="FFFFFF"/>
                          </a:solidFill>
                          <a:latin typeface="DejaVu Sans"/>
                          <a:ea typeface="DejaVu Sans"/>
                          <a:cs typeface="DejaVu Sans"/>
                        </a:rPr>
                        <a:t>Sprint</a:t>
                      </a:r>
                    </a:p>
                  </a:txBody>
                  <a:tcPr marL="91440" marR="91440" marT="45720" marB="45720">
                    <a:lnL w="9525">
                      <a:solidFill>
                        <a:srgbClr val="D1DAD5"/>
                      </a:solidFill>
                      <a:prstDash val="solid"/>
                    </a:lnL>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Hasil utama</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c>
                  <a:txBody>
                    <a:bodyPr/>
                    <a:lstStyle/>
                    <a:p>
                      <a:r>
                        <a:rPr sz="1650" b="1">
                          <a:solidFill>
                            <a:srgbClr val="FFFFFF"/>
                          </a:solidFill>
                          <a:latin typeface="DejaVu Sans"/>
                          <a:ea typeface="DejaVu Sans"/>
                          <a:cs typeface="DejaVu Sans"/>
                        </a:rPr>
                        <a:t>Gate</a:t>
                      </a:r>
                    </a:p>
                  </a:txBody>
                  <a:tcPr marL="91440" marR="91440" marT="45720" marB="45720">
                    <a:lnR w="9525">
                      <a:solidFill>
                        <a:srgbClr val="D1DAD5"/>
                      </a:solidFill>
                      <a:prstDash val="solid"/>
                    </a:lnR>
                    <a:lnT w="9525">
                      <a:solidFill>
                        <a:srgbClr val="D1DAD5"/>
                      </a:solidFill>
                      <a:prstDash val="solid"/>
                    </a:lnT>
                    <a:lnB w="9525">
                      <a:solidFill>
                        <a:srgbClr val="D1DAD5"/>
                      </a:solidFill>
                      <a:prstDash val="solid"/>
                    </a:lnB>
                    <a:solidFill>
                      <a:srgbClr val="142E33"/>
                    </a:solidFill>
                  </a:tcPr>
                </a:tc>
              </a:tr>
              <a:tr h="657225">
                <a:tc>
                  <a:txBody>
                    <a:bodyPr/>
                    <a:lstStyle/>
                    <a:p>
                      <a:r>
                        <a:rPr sz="1650" b="0">
                          <a:solidFill>
                            <a:srgbClr val="142E33"/>
                          </a:solidFill>
                          <a:latin typeface="DejaVu Sans"/>
                          <a:ea typeface="DejaVu Sans"/>
                          <a:cs typeface="DejaVu Sans"/>
                        </a:rPr>
                        <a:t>1–2</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Auth, tenant, staf, materi dan kuis</a:t>
                      </a:r>
                    </a:p>
                  </a:txBody>
                  <a:tcPr marL="91440" marR="91440" marT="45720" marB="45720">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Isolasi data dan nilai server</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3</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Onboarding dan observasi praktik</a:t>
                      </a:r>
                    </a:p>
                  </a:txBody>
                  <a:tcPr marL="91440" marR="91440" marT="45720" marB="45720">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Alur pekerja baru lengkap</a:t>
                      </a:r>
                    </a:p>
                  </a:txBody>
                  <a:tcPr marL="91440" marR="91440" marT="45720" marB="45720">
                    <a:lnR w="9525">
                      <a:solidFill>
                        <a:srgbClr val="D1DAD5"/>
                      </a:solidFill>
                      <a:prstDash val="solid"/>
                    </a:lnR>
                    <a:lnB w="9525">
                      <a:solidFill>
                        <a:srgbClr val="D1DAD5"/>
                      </a:solidFill>
                      <a:prstDash val="solid"/>
                    </a:lnB>
                    <a:solidFill>
                      <a:srgbClr val="EAF0E9"/>
                    </a:solidFill>
                  </a:tcPr>
                </a:tc>
              </a:tr>
              <a:tr h="657225">
                <a:tc>
                  <a:txBody>
                    <a:bodyPr/>
                    <a:lstStyle/>
                    <a:p>
                      <a:r>
                        <a:rPr sz="1650" b="0">
                          <a:solidFill>
                            <a:srgbClr val="142E33"/>
                          </a:solidFill>
                          <a:latin typeface="DejaVu Sans"/>
                          <a:ea typeface="DejaVu Sans"/>
                          <a:cs typeface="DejaVu Sans"/>
                        </a:rPr>
                        <a:t>4</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Checklist, scheduler dan kendala</a:t>
                      </a:r>
                    </a:p>
                  </a:txBody>
                  <a:tcPr marL="91440" marR="91440" marT="45720" marB="45720">
                    <a:lnR w="9525">
                      <a:solidFill>
                        <a:srgbClr val="D1DAD5"/>
                      </a:solidFill>
                      <a:prstDash val="solid"/>
                    </a:lnR>
                    <a:lnB w="9525">
                      <a:solidFill>
                        <a:srgbClr val="D1DAD5"/>
                      </a:solidFill>
                      <a:prstDash val="solid"/>
                    </a:lnB>
                    <a:solidFill>
                      <a:srgbClr val="FFFFFF"/>
                    </a:solidFill>
                  </a:tcPr>
                </a:tc>
                <a:tc>
                  <a:txBody>
                    <a:bodyPr/>
                    <a:lstStyle/>
                    <a:p>
                      <a:r>
                        <a:rPr sz="1650" b="0">
                          <a:solidFill>
                            <a:srgbClr val="142E33"/>
                          </a:solidFill>
                          <a:latin typeface="DejaVu Sans"/>
                          <a:ea typeface="DejaVu Sans"/>
                          <a:cs typeface="DejaVu Sans"/>
                        </a:rPr>
                        <a:t>Retry, concurrency, timezone</a:t>
                      </a:r>
                    </a:p>
                  </a:txBody>
                  <a:tcPr marL="91440" marR="91440" marT="45720" marB="45720">
                    <a:lnR w="9525">
                      <a:solidFill>
                        <a:srgbClr val="D1DAD5"/>
                      </a:solidFill>
                      <a:prstDash val="solid"/>
                    </a:lnR>
                    <a:lnB w="9525">
                      <a:solidFill>
                        <a:srgbClr val="D1DAD5"/>
                      </a:solidFill>
                      <a:prstDash val="solid"/>
                    </a:lnB>
                    <a:solidFill>
                      <a:srgbClr val="FFFFFF"/>
                    </a:solidFill>
                  </a:tcPr>
                </a:tc>
              </a:tr>
              <a:tr h="657225">
                <a:tc>
                  <a:txBody>
                    <a:bodyPr/>
                    <a:lstStyle/>
                    <a:p>
                      <a:r>
                        <a:rPr sz="1650" b="0">
                          <a:solidFill>
                            <a:srgbClr val="142E33"/>
                          </a:solidFill>
                          <a:latin typeface="DejaVu Sans"/>
                          <a:ea typeface="DejaVu Sans"/>
                          <a:cs typeface="DejaVu Sans"/>
                        </a:rPr>
                        <a:t>5–6</a:t>
                      </a:r>
                    </a:p>
                  </a:txBody>
                  <a:tcPr marL="91440" marR="91440" marT="45720" marB="45720">
                    <a:lnL w="9525">
                      <a:solidFill>
                        <a:srgbClr val="D1DAD5"/>
                      </a:solidFill>
                      <a:prstDash val="solid"/>
                    </a:lnL>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Laporan, audit, hardening dan UAT</a:t>
                      </a:r>
                    </a:p>
                  </a:txBody>
                  <a:tcPr marL="91440" marR="91440" marT="45720" marB="45720">
                    <a:lnR w="9525">
                      <a:solidFill>
                        <a:srgbClr val="D1DAD5"/>
                      </a:solidFill>
                      <a:prstDash val="solid"/>
                    </a:lnR>
                    <a:lnB w="9525">
                      <a:solidFill>
                        <a:srgbClr val="D1DAD5"/>
                      </a:solidFill>
                      <a:prstDash val="solid"/>
                    </a:lnB>
                    <a:solidFill>
                      <a:srgbClr val="EAF0E9"/>
                    </a:solidFill>
                  </a:tcPr>
                </a:tc>
                <a:tc>
                  <a:txBody>
                    <a:bodyPr/>
                    <a:lstStyle/>
                    <a:p>
                      <a:r>
                        <a:rPr sz="1650" b="0">
                          <a:solidFill>
                            <a:srgbClr val="142E33"/>
                          </a:solidFill>
                          <a:latin typeface="DejaVu Sans"/>
                          <a:ea typeface="DejaVu Sans"/>
                          <a:cs typeface="DejaVu Sans"/>
                        </a:rPr>
                        <a:t>Metrik, beban dan restore</a:t>
                      </a:r>
                    </a:p>
                  </a:txBody>
                  <a:tcPr marL="91440" marR="91440" marT="45720" marB="45720">
                    <a:lnR w="9525">
                      <a:solidFill>
                        <a:srgbClr val="D1DAD5"/>
                      </a:solidFill>
                      <a:prstDash val="solid"/>
                    </a:lnR>
                    <a:lnB w="9525">
                      <a:solidFill>
                        <a:srgbClr val="D1DAD5"/>
                      </a:solidFill>
                      <a:prstDash val="solid"/>
                    </a:lnB>
                    <a:solidFill>
                      <a:srgbClr val="EAF0E9"/>
                    </a:solidFill>
                  </a:tcPr>
                </a:tc>
              </a:tr>
            </a:tbl>
          </a:graphicData>
        </a:graphic>
      </p:graphicFrame>
      <p:sp>
        <p:nvSpPr>
          <p:cNvPr id="6" name="">
            <a:extLst xmlns:a="http://schemas.openxmlformats.org/drawingml/2006/main">
              <a:ext uri="{FF2B5EF4-FFF2-40B4-BE49-F238E27FC236}">
                <a16:creationId xmlns:a16="http://schemas.microsoft.com/office/drawing/2014/main" id="{BEAF6205-4D43-4D2F-BFC4-7E2A5A418FAA}"/>
              </a:ext>
            </a:extLst>
          </p:cNvPr>
          <p:cNvSpPr>
            <a:spLocks xmlns:a="http://schemas.openxmlformats.org/drawingml/2006/main" noGrp="1"/>
          </p:cNvSpPr>
          <p:nvPr/>
        </p:nvSpPr>
        <p:spPr>
          <a:xfrm xmlns:a="http://schemas.openxmlformats.org/drawingml/2006/main">
            <a:off x="609600" y="5638800"/>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b="0">
                <a:solidFill>
                  <a:srgbClr val="52686A"/>
                </a:solidFill>
                <a:latin typeface="DejaVu Sans"/>
                <a:ea typeface="DejaVu Sans"/>
                <a:cs typeface="DejaVu Sans"/>
              </a:defRPr>
            </a:defPPr>
          </a:lstStyle>
          <a:p xmlns:a="http://schemas.openxmlformats.org/drawingml/2006/main">
            <a:pPr>
              <a:defRPr sz="1500" b="0">
                <a:solidFill>
                  <a:srgbClr val="52686A"/>
                </a:solidFill>
                <a:latin typeface="DejaVu Sans"/>
                <a:ea typeface="DejaVu Sans"/>
                <a:cs typeface="DejaVu Sans"/>
              </a:defRPr>
            </a:pPr>
            <a:r>
              <a:rPr sz="1500" b="0">
                <a:solidFill>
                  <a:srgbClr val="52686A"/>
                </a:solidFill>
                <a:latin typeface="DejaVu Sans"/>
                <a:ea typeface="DejaVu Sans"/>
                <a:cs typeface="DejaVu Sans"/>
              </a:rPr>
              <a:t>Asumsi dua minggu per sprint. Kapasitas tim dan konten menentukan jadwal.</a:t>
            </a:r>
          </a:p>
        </p:txBody>
      </p:sp>
    </p:spTree>
    <p:extLst>
      <p:ext uri="{BB962C8B-B14F-4D97-AF65-F5344CB8AC3E}">
        <p14:creationId xmlns:p14="http://schemas.microsoft.com/office/powerpoint/2010/main" val="1385968912"/>
      </p:ext>
    </p:extLst>
  </p:cSld>
</p:sld>
</file>

<file path=ppt/slides/slide2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18A8E69-A1F4-4077-B0C7-33C28420688F}"/>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007F73"/>
                </a:solidFill>
                <a:latin typeface="DejaVu Sans"/>
                <a:ea typeface="DejaVu Sans"/>
                <a:cs typeface="DejaVu Sans"/>
              </a:defRPr>
            </a:defPPr>
          </a:lstStyle>
          <a:p xmlns:a="http://schemas.openxmlformats.org/drawingml/2006/main">
            <a:pPr>
              <a:defRPr sz="1125" b="1">
                <a:solidFill>
                  <a:srgbClr val="007F73"/>
                </a:solidFill>
                <a:latin typeface="DejaVu Sans"/>
                <a:ea typeface="DejaVu Sans"/>
                <a:cs typeface="DejaVu Sans"/>
              </a:defRPr>
            </a:pPr>
            <a:r>
              <a:rPr sz="1125" b="1">
                <a:solidFill>
                  <a:srgbClr val="007F73"/>
                </a:solidFill>
                <a:latin typeface="DejaVu Sans"/>
                <a:ea typeface="DejaVu Sans"/>
                <a:cs typeface="DejaVu Sans"/>
              </a:rPr>
              <a:t>CTO</a:t>
            </a:r>
          </a:p>
        </p:txBody>
      </p:sp>
      <p:sp>
        <p:nvSpPr>
          <p:cNvPr id="2" name="">
            <a:extLst xmlns:a="http://schemas.openxmlformats.org/drawingml/2006/main">
              <a:ext uri="{FF2B5EF4-FFF2-40B4-BE49-F238E27FC236}">
                <a16:creationId xmlns:a16="http://schemas.microsoft.com/office/drawing/2014/main" id="{6922E4B5-A618-4581-830A-A032052518C2}"/>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42E33"/>
                </a:solidFill>
                <a:latin typeface="DejaVu Sans"/>
                <a:ea typeface="DejaVu Sans"/>
                <a:cs typeface="DejaVu Sans"/>
              </a:defRPr>
            </a:defPPr>
          </a:lstStyle>
          <a:p xmlns:a="http://schemas.openxmlformats.org/drawingml/2006/main">
            <a:pPr>
              <a:defRPr sz="3300" b="1">
                <a:solidFill>
                  <a:srgbClr val="142E33"/>
                </a:solidFill>
                <a:latin typeface="DejaVu Sans"/>
                <a:ea typeface="DejaVu Sans"/>
                <a:cs typeface="DejaVu Sans"/>
              </a:defRPr>
            </a:pPr>
            <a:r>
              <a:rPr sz="3300" b="1">
                <a:solidFill>
                  <a:srgbClr val="142E33"/>
                </a:solidFill>
                <a:latin typeface="DejaVu Sans"/>
                <a:ea typeface="DejaVu Sans"/>
                <a:cs typeface="DejaVu Sans"/>
              </a:rPr>
              <a:t>Kriteria rilis</a:t>
            </a:r>
          </a:p>
        </p:txBody>
      </p:sp>
      <p:sp>
        <p:nvSpPr>
          <p:cNvPr id="3" name="">
            <a:extLst xmlns:a="http://schemas.openxmlformats.org/drawingml/2006/main">
              <a:ext uri="{FF2B5EF4-FFF2-40B4-BE49-F238E27FC236}">
                <a16:creationId xmlns:a16="http://schemas.microsoft.com/office/drawing/2014/main" id="{B3FF7E5B-4DB1-49FD-897D-D83A54AED978}"/>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66F0612F-6864-4B88-8B85-E529AE057A2C}"/>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52686A"/>
                </a:solidFill>
                <a:latin typeface="DejaVu Sans"/>
                <a:ea typeface="DejaVu Sans"/>
                <a:cs typeface="DejaVu Sans"/>
              </a:defRPr>
            </a:defPPr>
          </a:lstStyle>
          <a:p xmlns:a="http://schemas.openxmlformats.org/drawingml/2006/main">
            <a:pPr>
              <a:defRPr sz="975" b="0">
                <a:solidFill>
                  <a:srgbClr val="52686A"/>
                </a:solidFill>
                <a:latin typeface="DejaVu Sans"/>
                <a:ea typeface="DejaVu Sans"/>
                <a:cs typeface="DejaVu Sans"/>
              </a:defRPr>
            </a:pPr>
            <a:r>
              <a:rPr sz="975" b="0">
                <a:solidFill>
                  <a:srgbClr val="52686A"/>
                </a:solidFill>
                <a:latin typeface="DejaVu Sans"/>
                <a:ea typeface="DejaVu Sans"/>
                <a:cs typeface="DejaVu Sans"/>
              </a:rPr>
              <a:t>22</a:t>
            </a:r>
          </a:p>
        </p:txBody>
      </p:sp>
      <p:sp>
        <p:nvSpPr>
          <p:cNvPr id="5" name="">
            <a:extLst xmlns:a="http://schemas.openxmlformats.org/drawingml/2006/main">
              <a:ext uri="{FF2B5EF4-FFF2-40B4-BE49-F238E27FC236}">
                <a16:creationId xmlns:a16="http://schemas.microsoft.com/office/drawing/2014/main" id="{BCFB967A-0B18-4F9A-9629-85B9FA24F6EC}"/>
              </a:ext>
            </a:extLst>
          </p:cNvPr>
          <p:cNvSpPr>
            <a:spLocks xmlns:a="http://schemas.openxmlformats.org/drawingml/2006/main" noGrp="1"/>
          </p:cNvSpPr>
          <p:nvPr/>
        </p:nvSpPr>
        <p:spPr>
          <a:xfrm xmlns:a="http://schemas.openxmlformats.org/drawingml/2006/main">
            <a:off x="609600" y="21431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01</a:t>
            </a:r>
          </a:p>
        </p:txBody>
      </p:sp>
      <p:sp>
        <p:nvSpPr>
          <p:cNvPr id="6" name="">
            <a:extLst xmlns:a="http://schemas.openxmlformats.org/drawingml/2006/main">
              <a:ext uri="{FF2B5EF4-FFF2-40B4-BE49-F238E27FC236}">
                <a16:creationId xmlns:a16="http://schemas.microsoft.com/office/drawing/2014/main" id="{28203953-417D-4B63-9440-7CDFCD82668D}"/>
              </a:ext>
            </a:extLst>
          </p:cNvPr>
          <p:cNvSpPr>
            <a:spLocks xmlns:a="http://schemas.openxmlformats.org/drawingml/2006/main" noGrp="1"/>
          </p:cNvSpPr>
          <p:nvPr/>
        </p:nvSpPr>
        <p:spPr>
          <a:xfrm xmlns:a="http://schemas.openxmlformats.org/drawingml/2006/main">
            <a:off x="1428750" y="21431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P0 diterima tanpa bug kritis atau tinggi</a:t>
            </a:r>
          </a:p>
        </p:txBody>
      </p:sp>
      <p:sp>
        <p:nvSpPr>
          <p:cNvPr id="7" name="">
            <a:extLst xmlns:a="http://schemas.openxmlformats.org/drawingml/2006/main">
              <a:ext uri="{FF2B5EF4-FFF2-40B4-BE49-F238E27FC236}">
                <a16:creationId xmlns:a16="http://schemas.microsoft.com/office/drawing/2014/main" id="{DAE1D0E2-FFB7-4A12-9F3B-DD2EE6CB8C29}"/>
              </a:ext>
            </a:extLst>
          </p:cNvPr>
          <p:cNvSpPr>
            <a:spLocks xmlns:a="http://schemas.openxmlformats.org/drawingml/2006/main" noGrp="1"/>
          </p:cNvSpPr>
          <p:nvPr/>
        </p:nvSpPr>
        <p:spPr>
          <a:xfrm xmlns:a="http://schemas.openxmlformats.org/drawingml/2006/main">
            <a:off x="1428750" y="26003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Auth, tenant isolation, integritas, serta alur inti memenuhi UAT.</a:t>
            </a:r>
          </a:p>
        </p:txBody>
      </p:sp>
      <p:sp>
        <p:nvSpPr>
          <p:cNvPr id="8" name="">
            <a:extLst xmlns:a="http://schemas.openxmlformats.org/drawingml/2006/main">
              <a:ext uri="{FF2B5EF4-FFF2-40B4-BE49-F238E27FC236}">
                <a16:creationId xmlns:a16="http://schemas.microsoft.com/office/drawing/2014/main" id="{847A467F-5F63-46EF-811A-3C25071A93FB}"/>
              </a:ext>
            </a:extLst>
          </p:cNvPr>
          <p:cNvSpPr>
            <a:spLocks xmlns:a="http://schemas.openxmlformats.org/drawingml/2006/main" noGrp="1"/>
          </p:cNvSpPr>
          <p:nvPr/>
        </p:nvSpPr>
        <p:spPr>
          <a:xfrm xmlns:a="http://schemas.openxmlformats.org/drawingml/2006/main">
            <a:off x="609600" y="34004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02</a:t>
            </a:r>
          </a:p>
        </p:txBody>
      </p:sp>
      <p:sp>
        <p:nvSpPr>
          <p:cNvPr id="9" name="">
            <a:extLst xmlns:a="http://schemas.openxmlformats.org/drawingml/2006/main">
              <a:ext uri="{FF2B5EF4-FFF2-40B4-BE49-F238E27FC236}">
                <a16:creationId xmlns:a16="http://schemas.microsoft.com/office/drawing/2014/main" id="{639FCF1A-0414-4C85-8EC2-D853DCBAA1F5}"/>
              </a:ext>
            </a:extLst>
          </p:cNvPr>
          <p:cNvSpPr>
            <a:spLocks xmlns:a="http://schemas.openxmlformats.org/drawingml/2006/main" noGrp="1"/>
          </p:cNvSpPr>
          <p:nvPr/>
        </p:nvSpPr>
        <p:spPr>
          <a:xfrm xmlns:a="http://schemas.openxmlformats.org/drawingml/2006/main">
            <a:off x="1428750" y="34004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Operasi dapat dipulihkan</a:t>
            </a:r>
          </a:p>
        </p:txBody>
      </p:sp>
      <p:sp>
        <p:nvSpPr>
          <p:cNvPr id="10" name="">
            <a:extLst xmlns:a="http://schemas.openxmlformats.org/drawingml/2006/main">
              <a:ext uri="{FF2B5EF4-FFF2-40B4-BE49-F238E27FC236}">
                <a16:creationId xmlns:a16="http://schemas.microsoft.com/office/drawing/2014/main" id="{36E18689-B525-4079-B862-632E9E787511}"/>
              </a:ext>
            </a:extLst>
          </p:cNvPr>
          <p:cNvSpPr>
            <a:spLocks xmlns:a="http://schemas.openxmlformats.org/drawingml/2006/main" noGrp="1"/>
          </p:cNvSpPr>
          <p:nvPr/>
        </p:nvSpPr>
        <p:spPr>
          <a:xfrm xmlns:a="http://schemas.openxmlformats.org/drawingml/2006/main">
            <a:off x="1428750" y="38576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Monitoring, backup, restore, runbook, OpenAPI dan rollback siap.</a:t>
            </a:r>
          </a:p>
        </p:txBody>
      </p:sp>
      <p:sp>
        <p:nvSpPr>
          <p:cNvPr id="11" name="">
            <a:extLst xmlns:a="http://schemas.openxmlformats.org/drawingml/2006/main">
              <a:ext uri="{FF2B5EF4-FFF2-40B4-BE49-F238E27FC236}">
                <a16:creationId xmlns:a16="http://schemas.microsoft.com/office/drawing/2014/main" id="{1CF7E675-5319-4BC2-93BA-D2671594C5AB}"/>
              </a:ext>
            </a:extLst>
          </p:cNvPr>
          <p:cNvSpPr>
            <a:spLocks xmlns:a="http://schemas.openxmlformats.org/drawingml/2006/main" noGrp="1"/>
          </p:cNvSpPr>
          <p:nvPr/>
        </p:nvSpPr>
        <p:spPr>
          <a:xfrm xmlns:a="http://schemas.openxmlformats.org/drawingml/2006/main">
            <a:off x="609600" y="4657725"/>
            <a:ext cx="609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1">
                <a:solidFill>
                  <a:srgbClr val="007F73"/>
                </a:solidFill>
                <a:latin typeface="DejaVu Sans"/>
                <a:ea typeface="DejaVu Sans"/>
                <a:cs typeface="DejaVu Sans"/>
              </a:defRPr>
            </a:defPPr>
          </a:lstStyle>
          <a:p xmlns:a="http://schemas.openxmlformats.org/drawingml/2006/main">
            <a:pPr>
              <a:defRPr sz="2100" b="1">
                <a:solidFill>
                  <a:srgbClr val="007F73"/>
                </a:solidFill>
                <a:latin typeface="DejaVu Sans"/>
                <a:ea typeface="DejaVu Sans"/>
                <a:cs typeface="DejaVu Sans"/>
              </a:defRPr>
            </a:pPr>
            <a:r>
              <a:rPr sz="2100" b="1">
                <a:solidFill>
                  <a:srgbClr val="007F73"/>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6FAAEAC7-6890-4DEB-8BF2-5E6D9FE5A5A2}"/>
              </a:ext>
            </a:extLst>
          </p:cNvPr>
          <p:cNvSpPr>
            <a:spLocks xmlns:a="http://schemas.openxmlformats.org/drawingml/2006/main" noGrp="1"/>
          </p:cNvSpPr>
          <p:nvPr/>
        </p:nvSpPr>
        <p:spPr>
          <a:xfrm xmlns:a="http://schemas.openxmlformats.org/drawingml/2006/main">
            <a:off x="1428750" y="4657725"/>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42E33"/>
                </a:solidFill>
                <a:latin typeface="DejaVu Sans"/>
                <a:ea typeface="DejaVu Sans"/>
                <a:cs typeface="DejaVu Sans"/>
              </a:defRPr>
            </a:defPPr>
          </a:lstStyle>
          <a:p xmlns:a="http://schemas.openxmlformats.org/drawingml/2006/main">
            <a:pPr>
              <a:defRPr sz="2175" b="1">
                <a:solidFill>
                  <a:srgbClr val="142E33"/>
                </a:solidFill>
                <a:latin typeface="DejaVu Sans"/>
                <a:ea typeface="DejaVu Sans"/>
                <a:cs typeface="DejaVu Sans"/>
              </a:defRPr>
            </a:pPr>
            <a:r>
              <a:rPr sz="2175" b="1">
                <a:solidFill>
                  <a:srgbClr val="142E33"/>
                </a:solidFill>
                <a:latin typeface="DejaVu Sans"/>
                <a:ea typeface="DejaVu Sans"/>
                <a:cs typeface="DejaVu Sans"/>
              </a:rPr>
              <a:t>Perusahaan siap menggunakan produk</a:t>
            </a:r>
          </a:p>
        </p:txBody>
      </p:sp>
      <p:sp>
        <p:nvSpPr>
          <p:cNvPr id="13" name="">
            <a:extLst xmlns:a="http://schemas.openxmlformats.org/drawingml/2006/main">
              <a:ext uri="{FF2B5EF4-FFF2-40B4-BE49-F238E27FC236}">
                <a16:creationId xmlns:a16="http://schemas.microsoft.com/office/drawing/2014/main" id="{CCF53BB5-2AB8-4BF4-9C01-465911DCAA5A}"/>
              </a:ext>
            </a:extLst>
          </p:cNvPr>
          <p:cNvSpPr>
            <a:spLocks xmlns:a="http://schemas.openxmlformats.org/drawingml/2006/main" noGrp="1"/>
          </p:cNvSpPr>
          <p:nvPr/>
        </p:nvSpPr>
        <p:spPr>
          <a:xfrm xmlns:a="http://schemas.openxmlformats.org/drawingml/2006/main">
            <a:off x="1428750" y="5114925"/>
            <a:ext cx="9810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0">
                <a:solidFill>
                  <a:srgbClr val="52686A"/>
                </a:solidFill>
                <a:latin typeface="DejaVu Sans"/>
                <a:ea typeface="DejaVu Sans"/>
                <a:cs typeface="DejaVu Sans"/>
              </a:defRPr>
            </a:defPPr>
          </a:lstStyle>
          <a:p xmlns:a="http://schemas.openxmlformats.org/drawingml/2006/main">
            <a:pPr>
              <a:defRPr sz="1800" b="0">
                <a:solidFill>
                  <a:srgbClr val="52686A"/>
                </a:solidFill>
                <a:latin typeface="DejaVu Sans"/>
                <a:ea typeface="DejaVu Sans"/>
                <a:cs typeface="DejaVu Sans"/>
              </a:defRPr>
            </a:pPr>
            <a:r>
              <a:rPr sz="1800" b="0">
                <a:solidFill>
                  <a:srgbClr val="52686A"/>
                </a:solidFill>
                <a:latin typeface="DejaVu Sans"/>
                <a:ea typeface="DejaVu Sans"/>
                <a:cs typeface="DejaVu Sans"/>
              </a:rPr>
              <a:t>Konten disetujui. Admin dan supervisor menyelesaikan UAT.</a:t>
            </a:r>
          </a:p>
        </p:txBody>
      </p:sp>
    </p:spTree>
    <p:extLst>
      <p:ext uri="{BB962C8B-B14F-4D97-AF65-F5344CB8AC3E}">
        <p14:creationId xmlns:p14="http://schemas.microsoft.com/office/powerpoint/2010/main" val="1603314612"/>
      </p:ext>
    </p:extLst>
  </p:cSld>
</p:sld>
</file>

<file path=ppt/slides/slide23.xml><?xml version="1.0" encoding="utf-8"?>
<p:sld xmlns:p="http://schemas.openxmlformats.org/presentationml/2006/main">
  <p:cSld>
    <p:bg>
      <p:bgPr>
        <a:solidFill xmlns:a="http://schemas.openxmlformats.org/drawingml/2006/main">
          <a:srgbClr val="102D3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E926FF-3DA7-4E07-9877-EF60053DCD19}"/>
              </a:ext>
            </a:extLst>
          </p:cNvPr>
          <p:cNvSpPr>
            <a:spLocks xmlns:a="http://schemas.openxmlformats.org/drawingml/2006/main" noGrp="1"/>
          </p:cNvSpPr>
          <p:nvPr/>
        </p:nvSpPr>
        <p:spPr>
          <a:xfrm xmlns:a="http://schemas.openxmlformats.org/drawingml/2006/main">
            <a:off x="609600" y="3048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125" b="1">
                <a:solidFill>
                  <a:srgbClr val="D4E8E0"/>
                </a:solidFill>
                <a:latin typeface="DejaVu Sans"/>
                <a:ea typeface="DejaVu Sans"/>
                <a:cs typeface="DejaVu Sans"/>
              </a:defRPr>
            </a:defPPr>
          </a:lstStyle>
          <a:p xmlns:a="http://schemas.openxmlformats.org/drawingml/2006/main">
            <a:pPr>
              <a:defRPr sz="1125" b="1">
                <a:solidFill>
                  <a:srgbClr val="D4E8E0"/>
                </a:solidFill>
                <a:latin typeface="DejaVu Sans"/>
                <a:ea typeface="DejaVu Sans"/>
                <a:cs typeface="DejaVu Sans"/>
              </a:defRPr>
            </a:pPr>
            <a:r>
              <a:rPr sz="1125" b="1">
                <a:solidFill>
                  <a:srgbClr val="D4E8E0"/>
                </a:solidFill>
                <a:latin typeface="DejaVu Sans"/>
                <a:ea typeface="DejaVu Sans"/>
                <a:cs typeface="DejaVu Sans"/>
              </a:rPr>
              <a:t>INVESTOR &amp; CTO</a:t>
            </a:r>
          </a:p>
        </p:txBody>
      </p:sp>
      <p:sp>
        <p:nvSpPr>
          <p:cNvPr id="2" name="">
            <a:extLst xmlns:a="http://schemas.openxmlformats.org/drawingml/2006/main">
              <a:ext uri="{FF2B5EF4-FFF2-40B4-BE49-F238E27FC236}">
                <a16:creationId xmlns:a16="http://schemas.microsoft.com/office/drawing/2014/main" id="{E9E0CE08-BFBF-4B62-87B4-9C568BF70985}"/>
              </a:ext>
            </a:extLst>
          </p:cNvPr>
          <p:cNvSpPr>
            <a:spLocks xmlns:a="http://schemas.openxmlformats.org/drawingml/2006/main" noGrp="1"/>
          </p:cNvSpPr>
          <p:nvPr/>
        </p:nvSpPr>
        <p:spPr>
          <a:xfrm xmlns:a="http://schemas.openxmlformats.org/drawingml/2006/main">
            <a:off x="609600" y="847725"/>
            <a:ext cx="10953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FFFFFF"/>
                </a:solidFill>
                <a:latin typeface="DejaVu Sans"/>
                <a:ea typeface="DejaVu Sans"/>
                <a:cs typeface="DejaVu Sans"/>
              </a:defRPr>
            </a:defPPr>
          </a:lstStyle>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Keputusan berikutnya</a:t>
            </a:r>
          </a:p>
        </p:txBody>
      </p:sp>
      <p:sp>
        <p:nvSpPr>
          <p:cNvPr id="3" name="">
            <a:extLst xmlns:a="http://schemas.openxmlformats.org/drawingml/2006/main">
              <a:ext uri="{FF2B5EF4-FFF2-40B4-BE49-F238E27FC236}">
                <a16:creationId xmlns:a16="http://schemas.microsoft.com/office/drawing/2014/main" id="{77C2FC29-C6B0-4C40-A1CD-FB79B6B92794}"/>
              </a:ext>
            </a:extLst>
          </p:cNvPr>
          <p:cNvSpPr>
            <a:spLocks xmlns:a="http://schemas.openxmlformats.org/drawingml/2006/main" noGrp="1"/>
          </p:cNvSpPr>
          <p:nvPr/>
        </p:nvSpPr>
        <p:spPr>
          <a:xfrm xmlns:a="http://schemas.openxmlformats.org/drawingml/2006/main">
            <a:off x="609600" y="6410325"/>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4E8E0"/>
                </a:solidFill>
                <a:latin typeface="DejaVu Sans"/>
                <a:ea typeface="DejaVu Sans"/>
                <a:cs typeface="DejaVu Sans"/>
              </a:defRPr>
            </a:defPPr>
          </a:lstStyle>
          <a:p xmlns:a="http://schemas.openxmlformats.org/drawingml/2006/main">
            <a:pPr>
              <a:defRPr sz="975" b="0">
                <a:solidFill>
                  <a:srgbClr val="D4E8E0"/>
                </a:solidFill>
                <a:latin typeface="DejaVu Sans"/>
                <a:ea typeface="DejaVu Sans"/>
                <a:cs typeface="DejaVu Sans"/>
              </a:defRPr>
            </a:pPr>
            <a:r>
              <a:rPr sz="975" b="0">
                <a:solidFill>
                  <a:srgbClr val="D4E8E0"/>
                </a:solidFill>
                <a:latin typeface="DejaVu Sans"/>
                <a:ea typeface="DejaVu Sans"/>
                <a:cs typeface="DejaVu Sans"/>
              </a:rPr>
              <a:t>Karyanesia   /   PRD v0.0.1</a:t>
            </a:r>
          </a:p>
        </p:txBody>
      </p:sp>
      <p:sp>
        <p:nvSpPr>
          <p:cNvPr id="4" name="">
            <a:extLst xmlns:a="http://schemas.openxmlformats.org/drawingml/2006/main">
              <a:ext uri="{FF2B5EF4-FFF2-40B4-BE49-F238E27FC236}">
                <a16:creationId xmlns:a16="http://schemas.microsoft.com/office/drawing/2014/main" id="{13FDEC94-207A-4E31-B73B-13E42053BA89}"/>
              </a:ext>
            </a:extLst>
          </p:cNvPr>
          <p:cNvSpPr>
            <a:spLocks xmlns:a="http://schemas.openxmlformats.org/drawingml/2006/main" noGrp="1"/>
          </p:cNvSpPr>
          <p:nvPr/>
        </p:nvSpPr>
        <p:spPr>
          <a:xfrm xmlns:a="http://schemas.openxmlformats.org/drawingml/2006/main">
            <a:off x="11049000" y="6410325"/>
            <a:ext cx="523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975" b="0">
                <a:solidFill>
                  <a:srgbClr val="D4E8E0"/>
                </a:solidFill>
                <a:latin typeface="DejaVu Sans"/>
                <a:ea typeface="DejaVu Sans"/>
                <a:cs typeface="DejaVu Sans"/>
              </a:defRPr>
            </a:defPPr>
          </a:lstStyle>
          <a:p xmlns:a="http://schemas.openxmlformats.org/drawingml/2006/main">
            <a:pPr>
              <a:defRPr sz="975" b="0">
                <a:solidFill>
                  <a:srgbClr val="D4E8E0"/>
                </a:solidFill>
                <a:latin typeface="DejaVu Sans"/>
                <a:ea typeface="DejaVu Sans"/>
                <a:cs typeface="DejaVu Sans"/>
              </a:defRPr>
            </a:pPr>
            <a:r>
              <a:rPr sz="975" b="0">
                <a:solidFill>
                  <a:srgbClr val="D4E8E0"/>
                </a:solidFill>
                <a:latin typeface="DejaVu Sans"/>
                <a:ea typeface="DejaVu Sans"/>
                <a:cs typeface="DejaVu Sans"/>
              </a:rPr>
              <a:t>23</a:t>
            </a:r>
          </a:p>
        </p:txBody>
      </p:sp>
      <p:sp>
        <p:nvSpPr>
          <p:cNvPr id="5" name="">
            <a:extLst xmlns:a="http://schemas.openxmlformats.org/drawingml/2006/main">
              <a:ext uri="{FF2B5EF4-FFF2-40B4-BE49-F238E27FC236}">
                <a16:creationId xmlns:a16="http://schemas.microsoft.com/office/drawing/2014/main" id="{4E818946-CE42-4632-A9AF-A4DCAF91F87E}"/>
              </a:ext>
            </a:extLst>
          </p:cNvPr>
          <p:cNvSpPr>
            <a:spLocks xmlns:a="http://schemas.openxmlformats.org/drawingml/2006/main" noGrp="1"/>
          </p:cNvSpPr>
          <p:nvPr/>
        </p:nvSpPr>
        <p:spPr>
          <a:xfrm xmlns:a="http://schemas.openxmlformats.org/drawingml/2006/main">
            <a:off x="609600" y="2209800"/>
            <a:ext cx="10858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700" b="1">
                <a:solidFill>
                  <a:srgbClr val="FFFFFF"/>
                </a:solidFill>
                <a:latin typeface="DejaVu Sans"/>
                <a:ea typeface="DejaVu Sans"/>
                <a:cs typeface="DejaVu Sans"/>
              </a:defRPr>
            </a:defPPr>
          </a:lstStyle>
          <a:p xmlns:a="http://schemas.openxmlformats.org/drawingml/2006/main">
            <a:pPr>
              <a:defRPr sz="2700" b="1">
                <a:solidFill>
                  <a:srgbClr val="FFFFFF"/>
                </a:solidFill>
                <a:latin typeface="DejaVu Sans"/>
                <a:ea typeface="DejaVu Sans"/>
                <a:cs typeface="DejaVu Sans"/>
              </a:defRPr>
            </a:pPr>
            <a:r>
              <a:rPr sz="2700" b="1">
                <a:solidFill>
                  <a:srgbClr val="FFFFFF"/>
                </a:solidFill>
                <a:latin typeface="DejaVu Sans"/>
                <a:ea typeface="DejaVu Sans"/>
                <a:cs typeface="DejaVu Sans"/>
              </a:rPr>
              <a:t>Perusahaan pilot dan pemilik SOP</a:t>
            </a:r>
          </a:p>
          <a:p xmlns:a="http://schemas.openxmlformats.org/drawingml/2006/main">
            <a:pPr>
              <a:defRPr sz="2700" b="1">
                <a:solidFill>
                  <a:srgbClr val="FFFFFF"/>
                </a:solidFill>
                <a:latin typeface="DejaVu Sans"/>
                <a:ea typeface="DejaVu Sans"/>
                <a:cs typeface="DejaVu Sans"/>
              </a:defRPr>
            </a:pPr>
            <a:r>
              <a:rPr sz="2700" b="1">
                <a:solidFill>
                  <a:srgbClr val="FFFFFF"/>
                </a:solidFill>
                <a:latin typeface="DejaVu Sans"/>
                <a:ea typeface="DejaVu Sans"/>
                <a:cs typeface="DejaVu Sans"/>
              </a:rPr>
              <a:t>Batas MVP serta kapasitas tim</a:t>
            </a:r>
          </a:p>
          <a:p xmlns:a="http://schemas.openxmlformats.org/drawingml/2006/main">
            <a:pPr>
              <a:defRPr sz="2700" b="1">
                <a:solidFill>
                  <a:srgbClr val="FFFFFF"/>
                </a:solidFill>
                <a:latin typeface="DejaVu Sans"/>
                <a:ea typeface="DejaVu Sans"/>
                <a:cs typeface="DejaVu Sans"/>
              </a:defRPr>
            </a:pPr>
            <a:r>
              <a:rPr sz="2700" b="1">
                <a:solidFill>
                  <a:srgbClr val="FFFFFF"/>
                </a:solidFill>
                <a:latin typeface="DejaVu Sans"/>
                <a:ea typeface="DejaVu Sans"/>
                <a:cs typeface="DejaVu Sans"/>
              </a:rPr>
              <a:t>Hosting, anggaran, dan kebijakan data</a:t>
            </a:r>
          </a:p>
          <a:p xmlns:a="http://schemas.openxmlformats.org/drawingml/2006/main">
            <a:pPr>
              <a:defRPr sz="2700" b="1">
                <a:solidFill>
                  <a:srgbClr val="FFFFFF"/>
                </a:solidFill>
                <a:latin typeface="DejaVu Sans"/>
                <a:ea typeface="DejaVu Sans"/>
                <a:cs typeface="DejaVu Sans"/>
              </a:defRPr>
            </a:pPr>
            <a:r>
              <a:rPr sz="2700" b="1">
                <a:solidFill>
                  <a:srgbClr val="FFFFFF"/>
                </a:solidFill>
                <a:latin typeface="DejaVu Sans"/>
                <a:ea typeface="DejaVu Sans"/>
                <a:cs typeface="DejaVu Sans"/>
              </a:rPr>
              <a:t>Ukuran keberhasilan pilot</a:t>
            </a:r>
          </a:p>
        </p:txBody>
      </p:sp>
      <p:sp>
        <p:nvSpPr>
          <p:cNvPr id="6" name="">
            <a:extLst xmlns:a="http://schemas.openxmlformats.org/drawingml/2006/main">
              <a:ext uri="{FF2B5EF4-FFF2-40B4-BE49-F238E27FC236}">
                <a16:creationId xmlns:a16="http://schemas.microsoft.com/office/drawing/2014/main" id="{C124BC8E-2A99-4217-B308-DAE2741F83CE}"/>
              </a:ext>
            </a:extLst>
          </p:cNvPr>
          <p:cNvSpPr>
            <a:spLocks xmlns:a="http://schemas.openxmlformats.org/drawingml/2006/main" noGrp="1"/>
          </p:cNvSpPr>
          <p:nvPr/>
        </p:nvSpPr>
        <p:spPr>
          <a:xfrm xmlns:a="http://schemas.openxmlformats.org/drawingml/2006/main">
            <a:off x="609600" y="5219700"/>
            <a:ext cx="10477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950" b="0">
                <a:solidFill>
                  <a:srgbClr val="D4E8E0"/>
                </a:solidFill>
                <a:latin typeface="DejaVu Sans"/>
                <a:ea typeface="DejaVu Sans"/>
                <a:cs typeface="DejaVu Sans"/>
              </a:defRPr>
            </a:defPPr>
          </a:lstStyle>
          <a:p xmlns:a="http://schemas.openxmlformats.org/drawingml/2006/main">
            <a:pPr>
              <a:defRPr sz="1950" b="0">
                <a:solidFill>
                  <a:srgbClr val="D4E8E0"/>
                </a:solidFill>
                <a:latin typeface="DejaVu Sans"/>
                <a:ea typeface="DejaVu Sans"/>
                <a:cs typeface="DejaVu Sans"/>
              </a:defRPr>
            </a:pPr>
            <a:r>
              <a:rPr sz="1950" b="0">
                <a:solidFill>
                  <a:srgbClr val="D4E8E0"/>
                </a:solidFill>
                <a:latin typeface="DejaVu Sans"/>
                <a:ea typeface="DejaVu Sans"/>
                <a:cs typeface="DejaVu Sans"/>
              </a:rPr>
              <a:t>Baseline: Karyanesia PRD v0.0.1</a:t>
            </a:r>
          </a:p>
          <a:p xmlns:a="http://schemas.openxmlformats.org/drawingml/2006/main">
            <a:pPr>
              <a:defRPr sz="1950" b="0">
                <a:solidFill>
                  <a:srgbClr val="D4E8E0"/>
                </a:solidFill>
                <a:latin typeface="DejaVu Sans"/>
                <a:ea typeface="DejaVu Sans"/>
                <a:cs typeface="DejaVu Sans"/>
              </a:defRPr>
            </a:pPr>
            <a:r>
              <a:rPr sz="1950" b="0">
                <a:solidFill>
                  <a:srgbClr val="D4E8E0"/>
                </a:solidFill>
                <a:latin typeface="DejaVu Sans"/>
                <a:ea typeface="DejaVu Sans"/>
                <a:cs typeface="DejaVu Sans"/>
              </a:rPr>
              <a:t>16 Oktober 2026</a:t>
            </a:r>
          </a:p>
        </p:txBody>
      </p:sp>
    </p:spTree>
    <p:extLst>
      <p:ext uri="{BB962C8B-B14F-4D97-AF65-F5344CB8AC3E}">
        <p14:creationId xmlns:p14="http://schemas.microsoft.com/office/powerpoint/2010/main" val="9906269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2026-10-16T01:34:24.1790000Z</dcterms:created>
  <dcterms:modified xsi:type="dcterms:W3CDTF">2026-10-16T01:34:24.1790000Z</dcterms:modified>
</coreProperties>
</file>